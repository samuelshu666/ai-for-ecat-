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0" r:id="rId6"/>
    <p:sldId id="256" r:id="rId7"/>
    <p:sldId id="257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4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4623" t="6533" r="5491"/>
          <a:stretch>
            <a:fillRect/>
          </a:stretch>
        </p:blipFill>
        <p:spPr>
          <a:xfrm>
            <a:off x="9525" y="3650615"/>
            <a:ext cx="2997835" cy="26695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335" y="112395"/>
            <a:ext cx="8011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反向电流机理与基础研究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阳极侧氧化还原驱动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508000"/>
            <a:ext cx="1217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Relationship Between the Redox Reactions on a Bipolar Plate and Reverse Current After Alkaline Water Electrolysis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34990" y="1270635"/>
            <a:ext cx="6352540" cy="59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zh-CN" altLang="en-US" sz="1200"/>
              <a:t>在工业级双极性电解槽中，停机后反向电流产生的</a:t>
            </a:r>
            <a:r>
              <a:rPr lang="zh-CN" altLang="en-US" sz="1200">
                <a:solidFill>
                  <a:srgbClr val="C00000"/>
                </a:solidFill>
              </a:rPr>
              <a:t>根本驱动力（电动势）到底来自哪里？是什么化学物质在放电？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34990" y="1818640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34990" y="2112645"/>
            <a:ext cx="6271895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搭建双极性电解槽模型</a:t>
            </a:r>
            <a:r>
              <a:rPr lang="zh-CN" altLang="en-US" sz="1200"/>
              <a:t>：使用两个串联的单电池模拟双极性堆，并接入外部歧管</a:t>
            </a:r>
            <a:r>
              <a:rPr lang="en-US" altLang="zh-CN" sz="1200"/>
              <a:t>/</a:t>
            </a:r>
            <a:r>
              <a:rPr lang="zh-CN" altLang="en-US" sz="1200"/>
              <a:t>管路，形成离子泄漏</a:t>
            </a:r>
            <a:r>
              <a:rPr lang="en-US" altLang="zh-CN" sz="1200"/>
              <a:t>/</a:t>
            </a:r>
            <a:r>
              <a:rPr lang="zh-CN" altLang="en-US" sz="1200"/>
              <a:t>回路。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en-US" altLang="zh-CN" sz="1200" b="1"/>
              <a:t>“</a:t>
            </a:r>
            <a:r>
              <a:rPr lang="zh-CN" altLang="en-US" sz="1200" b="1"/>
              <a:t>自然发生</a:t>
            </a:r>
            <a:r>
              <a:rPr lang="en-US" altLang="zh-CN" sz="1200" b="1"/>
              <a:t>”</a:t>
            </a:r>
            <a:r>
              <a:rPr lang="zh-CN" altLang="en-US" sz="1200" b="1"/>
              <a:t>的</a:t>
            </a:r>
            <a:r>
              <a:rPr lang="en-US" altLang="zh-CN" sz="1200" b="1"/>
              <a:t>RC</a:t>
            </a:r>
            <a:r>
              <a:rPr lang="zh-CN" altLang="en-US" sz="1200"/>
              <a:t>：操作上先电解</a:t>
            </a:r>
            <a:r>
              <a:rPr lang="en-US" altLang="zh-CN" sz="1200"/>
              <a:t>60</a:t>
            </a:r>
            <a:r>
              <a:rPr lang="zh-CN" altLang="en-US" sz="1200"/>
              <a:t>分钟，然后用断路器强制开路，开始同步记录：反向电流、两个</a:t>
            </a:r>
            <a:r>
              <a:rPr lang="en-US" altLang="zh-CN" sz="1200"/>
              <a:t>cell</a:t>
            </a:r>
            <a:r>
              <a:rPr lang="zh-CN" altLang="en-US" sz="1200"/>
              <a:t>的端电压</a:t>
            </a:r>
            <a:r>
              <a:rPr lang="en-US" altLang="zh-CN" sz="1200"/>
              <a:t>U1/U2</a:t>
            </a:r>
            <a:r>
              <a:rPr lang="zh-CN" altLang="en-US" sz="1200"/>
              <a:t>；持续记录直到反向电流自然衰减到</a:t>
            </a:r>
            <a:r>
              <a:rPr lang="en-US" altLang="zh-CN" sz="1200"/>
              <a:t>0</a:t>
            </a:r>
            <a:r>
              <a:rPr lang="zh-CN" altLang="en-US" sz="1200"/>
              <a:t>。</a:t>
            </a:r>
            <a:endParaRPr lang="en-US" altLang="zh-CN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电位分布建模</a:t>
            </a:r>
            <a:r>
              <a:rPr lang="zh-CN" altLang="en-US" sz="1200"/>
              <a:t>：用</a:t>
            </a:r>
            <a:r>
              <a:rPr lang="en-US" altLang="zh-CN" sz="1200"/>
              <a:t>“</a:t>
            </a:r>
            <a:r>
              <a:rPr lang="zh-CN" altLang="en-US" sz="1200"/>
              <a:t>等效电路</a:t>
            </a:r>
            <a:r>
              <a:rPr lang="en-US" altLang="zh-CN" sz="1200"/>
              <a:t>+</a:t>
            </a:r>
            <a:r>
              <a:rPr lang="zh-CN" altLang="en-US" sz="1200"/>
              <a:t>一维电位分布模型</a:t>
            </a:r>
            <a:r>
              <a:rPr lang="en-US" altLang="zh-CN" sz="1200"/>
              <a:t>”</a:t>
            </a:r>
            <a:r>
              <a:rPr lang="zh-CN" altLang="en-US" sz="1200"/>
              <a:t>把测到的电压</a:t>
            </a:r>
            <a:r>
              <a:rPr lang="en-US" altLang="zh-CN" sz="1200"/>
              <a:t>/</a:t>
            </a:r>
            <a:r>
              <a:rPr lang="zh-CN" altLang="en-US" sz="1200"/>
              <a:t>电流解释成具体氧化还原对。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en-US" altLang="zh-CN" sz="1200" b="1"/>
              <a:t>1. </a:t>
            </a:r>
            <a:r>
              <a:rPr lang="zh-CN" altLang="en-US" sz="1200" b="1"/>
              <a:t>用</a:t>
            </a:r>
            <a:r>
              <a:rPr lang="en-US" altLang="zh-CN" sz="1200" b="1"/>
              <a:t>“</a:t>
            </a:r>
            <a:r>
              <a:rPr lang="zh-CN" altLang="en-US" sz="1200" b="1"/>
              <a:t>实测电位窗口</a:t>
            </a:r>
            <a:r>
              <a:rPr lang="en-US" altLang="zh-CN" sz="1200" b="1"/>
              <a:t>”</a:t>
            </a:r>
            <a:r>
              <a:rPr lang="zh-CN" altLang="en-US" sz="1200" b="1"/>
              <a:t>做硬筛选</a:t>
            </a:r>
            <a:r>
              <a:rPr lang="zh-CN" altLang="en-US" sz="1200"/>
              <a:t>：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/>
              <a:t>停机瞬间</a:t>
            </a:r>
            <a:r>
              <a:rPr lang="en-US" altLang="zh-CN" sz="1200"/>
              <a:t>U1</a:t>
            </a:r>
            <a:r>
              <a:rPr lang="zh-CN" altLang="en-US" sz="1200"/>
              <a:t>、</a:t>
            </a:r>
            <a:r>
              <a:rPr lang="en-US" altLang="zh-CN" sz="1200"/>
              <a:t>U2≈1.4-1.6 V</a:t>
            </a:r>
            <a:r>
              <a:rPr lang="zh-CN" altLang="en-US" sz="1200"/>
              <a:t>，</a:t>
            </a:r>
            <a:r>
              <a:rPr lang="zh-CN" altLang="en-US" sz="1200"/>
              <a:t>对应只有停机初期的主导反应对只能是</a:t>
            </a:r>
            <a:r>
              <a:rPr lang="en-US" altLang="zh-CN" sz="1200"/>
              <a:t>[NiO</a:t>
            </a:r>
            <a:r>
              <a:rPr lang="en-US" altLang="en-US" sz="1200" baseline="-25000"/>
              <a:t>2</a:t>
            </a:r>
            <a:r>
              <a:rPr lang="en-US" altLang="zh-CN" sz="1200"/>
              <a:t>/NiOOH]</a:t>
            </a:r>
            <a:r>
              <a:rPr lang="zh-CN" altLang="en-US" sz="1200"/>
              <a:t>（高电位）和</a:t>
            </a:r>
            <a:r>
              <a:rPr lang="en-US" altLang="zh-CN" sz="1200"/>
              <a:t> [H</a:t>
            </a:r>
            <a:r>
              <a:rPr lang="en-US" altLang="en-US" sz="1200" baseline="-25000"/>
              <a:t>2</a:t>
            </a:r>
            <a:r>
              <a:rPr lang="en-US" altLang="zh-CN" sz="1200"/>
              <a:t>/H</a:t>
            </a:r>
            <a:r>
              <a:rPr lang="en-US" altLang="en-US" sz="1200" baseline="-25000"/>
              <a:t>2</a:t>
            </a:r>
            <a:r>
              <a:rPr lang="en-US" altLang="zh-CN" sz="1200"/>
              <a:t>O]</a:t>
            </a:r>
            <a:r>
              <a:rPr lang="zh-CN" altLang="en-US" sz="1200"/>
              <a:t>（低电位）。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en-US" altLang="zh-CN" sz="1200" b="1"/>
              <a:t>2. </a:t>
            </a:r>
            <a:r>
              <a:rPr lang="zh-CN" altLang="en-US" sz="1200" b="1"/>
              <a:t>用</a:t>
            </a:r>
            <a:r>
              <a:rPr lang="en-US" altLang="zh-CN" sz="1200" b="1"/>
              <a:t>“</a:t>
            </a:r>
            <a:r>
              <a:rPr lang="zh-CN" altLang="en-US" sz="1200" b="1"/>
              <a:t>电位随时间变化</a:t>
            </a:r>
            <a:r>
              <a:rPr lang="en-US" altLang="zh-CN" sz="1200" b="1"/>
              <a:t>”</a:t>
            </a:r>
            <a:r>
              <a:rPr lang="zh-CN" altLang="en-US" sz="1200" b="1"/>
              <a:t>验证反应切换</a:t>
            </a:r>
            <a:r>
              <a:rPr lang="zh-CN" altLang="en-US" sz="1200"/>
              <a:t>：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en-US" altLang="zh-CN" sz="1200">
                <a:sym typeface="+mn-ea"/>
              </a:rPr>
              <a:t>U1 </a:t>
            </a:r>
            <a:r>
              <a:rPr lang="zh-CN" altLang="en-US" sz="1200">
                <a:sym typeface="+mn-ea"/>
              </a:rPr>
              <a:t>长期维持在</a:t>
            </a:r>
            <a:r>
              <a:rPr lang="en-US" altLang="zh-CN" sz="1200">
                <a:sym typeface="+mn-ea"/>
              </a:rPr>
              <a:t> ~1.1–1.2 V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/>
              <a:t>U</a:t>
            </a:r>
            <a:r>
              <a:rPr lang="en-US" altLang="en-US" sz="1200"/>
              <a:t>2</a:t>
            </a:r>
            <a:r>
              <a:rPr lang="en-US" altLang="zh-CN" sz="1200"/>
              <a:t> </a:t>
            </a:r>
            <a:r>
              <a:rPr lang="zh-CN" altLang="en-US" sz="1200"/>
              <a:t>从</a:t>
            </a:r>
            <a:r>
              <a:rPr lang="en-US" altLang="zh-CN" sz="1200"/>
              <a:t> ~1.6 V </a:t>
            </a:r>
            <a:r>
              <a:rPr lang="en-US" altLang="en-US" sz="1200"/>
              <a:t>→</a:t>
            </a:r>
            <a:r>
              <a:rPr lang="en-US" altLang="zh-CN" sz="1200"/>
              <a:t> ~0.3 V</a:t>
            </a:r>
            <a:r>
              <a:rPr lang="zh-CN" altLang="en-US" sz="1200"/>
              <a:t>，原阴极反应从</a:t>
            </a:r>
            <a:r>
              <a:rPr lang="en-US" altLang="zh-CN" sz="1200">
                <a:sym typeface="+mn-ea"/>
              </a:rPr>
              <a:t>H</a:t>
            </a:r>
            <a:r>
              <a:rPr lang="en-US" altLang="en-US" sz="1200" baseline="-25000">
                <a:sym typeface="+mn-ea"/>
              </a:rPr>
              <a:t>2</a:t>
            </a:r>
            <a:r>
              <a:rPr lang="en-US" altLang="zh-CN" sz="1200">
                <a:sym typeface="+mn-ea"/>
              </a:rPr>
              <a:t>/H</a:t>
            </a:r>
            <a:r>
              <a:rPr lang="en-US" altLang="en-US" sz="1200" baseline="-25000">
                <a:sym typeface="+mn-ea"/>
              </a:rPr>
              <a:t>2</a:t>
            </a:r>
            <a:r>
              <a:rPr lang="en-US" altLang="zh-CN" sz="1200">
                <a:sym typeface="+mn-ea"/>
              </a:rPr>
              <a:t>O</a:t>
            </a:r>
            <a:r>
              <a:rPr lang="zh-CN" altLang="en-US" sz="1200">
                <a:sym typeface="+mn-ea"/>
              </a:rPr>
              <a:t>变到</a:t>
            </a:r>
            <a:r>
              <a:rPr lang="en-US" altLang="zh-CN" sz="1200">
                <a:sym typeface="+mn-ea"/>
              </a:rPr>
              <a:t>Ni/Ni(OH)</a:t>
            </a:r>
            <a:r>
              <a:rPr lang="en-US" altLang="zh-CN" sz="1200" baseline="-25000">
                <a:sym typeface="+mn-ea"/>
              </a:rPr>
              <a:t>2​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34990" y="4648200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34990" y="4935220"/>
            <a:ext cx="6353175" cy="17697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zh-CN" altLang="en-US" sz="1200" b="1"/>
              <a:t>确定了驱动电对：</a:t>
            </a:r>
            <a:r>
              <a:rPr lang="zh-CN" altLang="en-US" sz="1200"/>
              <a:t>反向电流是由</a:t>
            </a:r>
            <a:r>
              <a:rPr lang="zh-CN" altLang="en-US" sz="1200">
                <a:solidFill>
                  <a:srgbClr val="C00000"/>
                </a:solidFill>
              </a:rPr>
              <a:t>双极板两侧的氧化还原电对</a:t>
            </a:r>
            <a:r>
              <a:rPr lang="zh-CN" altLang="en-US" sz="1200"/>
              <a:t>驱动的。</a:t>
            </a:r>
            <a:endParaRPr lang="zh-CN" altLang="en-US" sz="1200"/>
          </a:p>
          <a:p>
            <a:pPr marL="171450" lvl="0" indent="-171450" fontAlgn="auto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200"/>
              <a:t>阳极侧（氧化态）：</a:t>
            </a:r>
            <a:r>
              <a:rPr lang="en-US" altLang="zh-CN" sz="1200"/>
              <a:t>NiO</a:t>
            </a:r>
            <a:r>
              <a:rPr lang="en-US" altLang="zh-CN" sz="1200" baseline="-25000"/>
              <a:t>2</a:t>
            </a:r>
            <a:r>
              <a:rPr lang="en-US" altLang="zh-CN" sz="1200"/>
              <a:t> / NiOOH</a:t>
            </a:r>
            <a:r>
              <a:rPr lang="zh-CN" altLang="en-US" sz="1200"/>
              <a:t>（高电位）</a:t>
            </a:r>
            <a:endParaRPr lang="zh-CN" altLang="en-US" sz="1200"/>
          </a:p>
          <a:p>
            <a:pPr marL="171450" lvl="0" indent="-171450" fontAlgn="auto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200"/>
              <a:t>阴极侧（还原态）：</a:t>
            </a:r>
            <a:r>
              <a:rPr lang="en-US" altLang="zh-CN" sz="1200"/>
              <a:t>H</a:t>
            </a:r>
            <a:r>
              <a:rPr lang="en-US" altLang="zh-CN" sz="1200" baseline="-25000"/>
              <a:t>2</a:t>
            </a:r>
            <a:r>
              <a:rPr lang="en-US" altLang="zh-CN" sz="1200"/>
              <a:t> / H</a:t>
            </a:r>
            <a:r>
              <a:rPr lang="en-US" altLang="zh-CN" sz="1200" baseline="-25000"/>
              <a:t>2</a:t>
            </a:r>
            <a:r>
              <a:rPr lang="en-US" altLang="zh-CN" sz="1200"/>
              <a:t>O</a:t>
            </a:r>
            <a:r>
              <a:rPr lang="zh-CN" altLang="en-US" sz="1200"/>
              <a:t>（低电位）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zh-CN" altLang="en-US" sz="1200" b="1"/>
              <a:t>放电过程</a:t>
            </a:r>
            <a:r>
              <a:rPr lang="zh-CN" altLang="en-US" sz="1200"/>
              <a:t>：停机后，阳极充当</a:t>
            </a:r>
            <a:r>
              <a:rPr lang="en-US" altLang="zh-CN" sz="1200"/>
              <a:t>“</a:t>
            </a:r>
            <a:r>
              <a:rPr lang="zh-CN" altLang="en-US" sz="1200"/>
              <a:t>正极</a:t>
            </a:r>
            <a:r>
              <a:rPr lang="en-US" altLang="zh-CN" sz="1200"/>
              <a:t>”</a:t>
            </a:r>
            <a:r>
              <a:rPr lang="zh-CN" altLang="en-US" sz="1200"/>
              <a:t>，阴极充当</a:t>
            </a:r>
            <a:r>
              <a:rPr lang="en-US" altLang="zh-CN" sz="1200"/>
              <a:t>“</a:t>
            </a:r>
            <a:r>
              <a:rPr lang="zh-CN" altLang="en-US" sz="1200"/>
              <a:t>负极</a:t>
            </a:r>
            <a:r>
              <a:rPr lang="en-US" altLang="zh-CN" sz="1200"/>
              <a:t>”</a:t>
            </a:r>
            <a:r>
              <a:rPr lang="zh-CN" altLang="en-US" sz="1200"/>
              <a:t>，像电池一样通过电解液导电放电，直到两边电位平衡。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zh-CN" altLang="en-US" sz="1200" b="1"/>
              <a:t>定量关系</a:t>
            </a:r>
            <a:r>
              <a:rPr lang="zh-CN" altLang="en-US" sz="1200"/>
              <a:t>：停机后的自然</a:t>
            </a:r>
            <a:r>
              <a:rPr lang="en-US" altLang="zh-CN" sz="1200"/>
              <a:t>RC</a:t>
            </a:r>
            <a:r>
              <a:rPr lang="zh-CN" altLang="en-US" sz="1200"/>
              <a:t>电荷量随</a:t>
            </a:r>
            <a:r>
              <a:rPr lang="zh-CN" altLang="en-US" sz="1200">
                <a:solidFill>
                  <a:schemeClr val="tx1"/>
                </a:solidFill>
              </a:rPr>
              <a:t>停机前负载电流</a:t>
            </a:r>
            <a:r>
              <a:rPr lang="zh-CN" altLang="en-US" sz="1200"/>
              <a:t>增大而增大，并归因于双极板</a:t>
            </a:r>
            <a:r>
              <a:rPr lang="zh-CN" altLang="en-US" sz="1200">
                <a:solidFill>
                  <a:srgbClr val="C00000"/>
                </a:solidFill>
              </a:rPr>
              <a:t>阳极侧镍氧化物</a:t>
            </a:r>
            <a:r>
              <a:rPr lang="zh-CN" altLang="en-US" sz="1200"/>
              <a:t>（</a:t>
            </a:r>
            <a:r>
              <a:rPr lang="en-US" altLang="zh-CN" sz="1200"/>
              <a:t> </a:t>
            </a:r>
            <a:r>
              <a:rPr lang="en-US" altLang="zh-CN" sz="1200">
                <a:sym typeface="+mn-ea"/>
              </a:rPr>
              <a:t>NiO</a:t>
            </a:r>
            <a:r>
              <a:rPr lang="en-US" altLang="zh-CN" sz="1200" baseline="-25000">
                <a:sym typeface="+mn-ea"/>
              </a:rPr>
              <a:t>2 </a:t>
            </a:r>
            <a:r>
              <a:rPr lang="en-US" altLang="zh-CN" sz="1200">
                <a:sym typeface="+mn-ea"/>
              </a:rPr>
              <a:t>/ </a:t>
            </a:r>
            <a:r>
              <a:rPr lang="en-US" altLang="zh-CN" sz="1200"/>
              <a:t>NiOOH </a:t>
            </a:r>
            <a:r>
              <a:rPr lang="zh-CN" altLang="en-US" sz="1200"/>
              <a:t>）。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634990" y="1010285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181" y="6309995"/>
            <a:ext cx="311340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 min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电解过程中，反向电流的电荷量是电流密度的函数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8620" y="3538855"/>
            <a:ext cx="45967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a 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和有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b 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离子通过歧管在电池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之间传导时，双极电解槽电解后的一维电势分布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" y="972820"/>
            <a:ext cx="5471795" cy="22923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6520180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Uchino, Y. Kobayashi, T. Hasegawa, S. Nagashima, I. Sunada, Y. Manabe, A. Nishiki, Y. Mitsushima, S. ELECTROCATALYSIS 2018, 9 (1), 67-74.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15920" y="4154170"/>
            <a:ext cx="2248535" cy="8585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16555" y="5165090"/>
            <a:ext cx="2262505" cy="6026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35" y="112395"/>
            <a:ext cx="649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反向电流机理与基础研究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电极表面本身的活性物质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主导驱动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508000"/>
            <a:ext cx="1217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Dependence of the reverse current on the surface of electrode placed on a bipolar plate in an alkaline water electrolyzer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74030" y="1372235"/>
            <a:ext cx="6565265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zh-CN" altLang="en-US" sz="1200"/>
              <a:t>反向电流到底是因为电解液里</a:t>
            </a:r>
            <a:r>
              <a:rPr lang="zh-CN" altLang="en-US" sz="1200">
                <a:solidFill>
                  <a:srgbClr val="C00000"/>
                </a:solidFill>
              </a:rPr>
              <a:t>溶解的气体</a:t>
            </a:r>
            <a:r>
              <a:rPr lang="zh-CN" altLang="en-US" sz="1200"/>
              <a:t>（氧气</a:t>
            </a:r>
            <a:r>
              <a:rPr lang="en-US" altLang="zh-CN" sz="1200"/>
              <a:t>/</a:t>
            </a:r>
            <a:r>
              <a:rPr lang="zh-CN" altLang="en-US" sz="1200"/>
              <a:t>氢气）扩散引起的，还是</a:t>
            </a:r>
            <a:r>
              <a:rPr lang="zh-CN" altLang="en-US" sz="1200">
                <a:solidFill>
                  <a:srgbClr val="C00000"/>
                </a:solidFill>
              </a:rPr>
              <a:t>电极表面本身的活性物质</a:t>
            </a:r>
            <a:r>
              <a:rPr lang="zh-CN" altLang="en-US" sz="1200"/>
              <a:t>引起的？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574030" y="2032000"/>
            <a:ext cx="39058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74030" y="2331085"/>
            <a:ext cx="6566535" cy="3045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电解液置换实验</a:t>
            </a:r>
            <a:r>
              <a:rPr lang="zh-CN" altLang="en-US" sz="1200" b="1"/>
              <a:t>：比较置换与不置换两组</a:t>
            </a:r>
            <a:r>
              <a:rPr lang="en-US" altLang="zh-CN" sz="1200" b="1">
                <a:solidFill>
                  <a:srgbClr val="C00000"/>
                </a:solidFill>
              </a:rPr>
              <a:t>Ir</a:t>
            </a:r>
            <a:r>
              <a:rPr lang="zh-CN" altLang="en-US" sz="1200" b="1">
                <a:solidFill>
                  <a:srgbClr val="C00000"/>
                </a:solidFill>
              </a:rPr>
              <a:t>总电荷量</a:t>
            </a:r>
            <a:r>
              <a:rPr lang="zh-CN" altLang="en-US" sz="1200" b="1"/>
              <a:t>以区分气体贡献与</a:t>
            </a:r>
            <a:r>
              <a:rPr lang="en-US" altLang="zh-CN" sz="1200" b="1"/>
              <a:t>Ni</a:t>
            </a:r>
            <a:r>
              <a:rPr lang="zh-CN" altLang="en-US" sz="1200" b="1"/>
              <a:t>表面活性物质贡献。</a:t>
            </a:r>
            <a:endParaRPr lang="zh-CN" altLang="en-US" sz="1200" b="1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搭一个由两块有限间隙</a:t>
            </a:r>
            <a:r>
              <a:rPr lang="en-US" altLang="zh-CN" sz="1200"/>
              <a:t>cell</a:t>
            </a:r>
            <a:r>
              <a:rPr lang="zh-CN" altLang="en-US" sz="1200"/>
              <a:t>串联构成的双极式电解槽，并保留进</a:t>
            </a:r>
            <a:r>
              <a:rPr lang="en-US" altLang="zh-CN" sz="1200"/>
              <a:t>/</a:t>
            </a:r>
            <a:r>
              <a:rPr lang="zh-CN" altLang="en-US" sz="1200"/>
              <a:t>出口歧管管路，来真实产生泄漏电流和停机反向电流。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在</a:t>
            </a:r>
            <a:r>
              <a:rPr lang="en-US" altLang="zh-CN" sz="1200"/>
              <a:t> 600 mA/cm</a:t>
            </a:r>
            <a:r>
              <a:rPr lang="en-US" altLang="en-US" sz="1200"/>
              <a:t>²</a:t>
            </a:r>
            <a:r>
              <a:rPr lang="zh-CN" altLang="en-US" sz="1200"/>
              <a:t>、</a:t>
            </a:r>
            <a:r>
              <a:rPr lang="en-US" altLang="zh-CN" sz="1200"/>
              <a:t>25</a:t>
            </a:r>
            <a:r>
              <a:rPr lang="en-US" altLang="en-US" sz="1200"/>
              <a:t>°</a:t>
            </a:r>
            <a:r>
              <a:rPr lang="en-US" altLang="zh-CN" sz="1200"/>
              <a:t>C</a:t>
            </a:r>
            <a:r>
              <a:rPr lang="zh-CN" altLang="en-US" sz="1200"/>
              <a:t>下恒流电解</a:t>
            </a:r>
            <a:r>
              <a:rPr lang="en-US" altLang="zh-CN" sz="1200"/>
              <a:t>30-180 min</a:t>
            </a:r>
            <a:r>
              <a:rPr lang="zh-CN" altLang="en-US" sz="1200"/>
              <a:t>，断路器切断电源停机，记录反向电流</a:t>
            </a:r>
            <a:r>
              <a:rPr lang="en-US" altLang="zh-CN" sz="1200"/>
              <a:t>Ir</a:t>
            </a:r>
            <a:r>
              <a:rPr lang="zh-CN" altLang="en-US" sz="1200"/>
              <a:t>与</a:t>
            </a:r>
            <a:r>
              <a:rPr lang="en-US" altLang="zh-CN" sz="1200"/>
              <a:t>U1/U2</a:t>
            </a:r>
            <a:r>
              <a:rPr lang="zh-CN" altLang="en-US" sz="1200"/>
              <a:t>随时间衰减。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停机后立刻做</a:t>
            </a:r>
            <a:r>
              <a:rPr lang="en-US" altLang="zh-CN" sz="1200"/>
              <a:t>“</a:t>
            </a:r>
            <a:r>
              <a:rPr lang="zh-CN" altLang="en-US" sz="1200">
                <a:solidFill>
                  <a:srgbClr val="C00000"/>
                </a:solidFill>
              </a:rPr>
              <a:t>无气电解液置换</a:t>
            </a:r>
            <a:r>
              <a:rPr lang="en-US" altLang="zh-CN" sz="1200"/>
              <a:t>”</a:t>
            </a:r>
            <a:r>
              <a:rPr lang="zh-CN" altLang="en-US" sz="1200"/>
              <a:t>，</a:t>
            </a:r>
            <a:r>
              <a:rPr lang="zh-CN" altLang="en-US" sz="1200"/>
              <a:t>设计了对照：</a:t>
            </a:r>
            <a:endParaRPr lang="zh-CN" altLang="en-US" sz="1200"/>
          </a:p>
          <a:p>
            <a:pPr marL="295910" indent="-171450" defTabSz="914400" fontAlgn="auto">
              <a:lnSpc>
                <a:spcPct val="130000"/>
              </a:lnSpc>
              <a:buSzPct val="100000"/>
              <a:buFont typeface="Wingdings" panose="05000000000000000000" charset="0"/>
              <a:buChar char="Ø"/>
              <a:tabLst>
                <a:tab pos="358140" algn="l"/>
              </a:tabLst>
            </a:pPr>
            <a:r>
              <a:rPr lang="zh-CN" altLang="en-US" sz="1200"/>
              <a:t>不置换：停机后保留含气电解液。</a:t>
            </a:r>
            <a:endParaRPr lang="en-US" altLang="zh-CN" sz="1200"/>
          </a:p>
          <a:p>
            <a:pPr marL="295910" indent="-171450" defTabSz="914400" fontAlgn="auto">
              <a:lnSpc>
                <a:spcPct val="130000"/>
              </a:lnSpc>
              <a:buSzPct val="100000"/>
              <a:buFont typeface="Wingdings" panose="05000000000000000000" charset="0"/>
              <a:buChar char="Ø"/>
              <a:tabLst>
                <a:tab pos="358140" algn="l"/>
              </a:tabLst>
            </a:pPr>
            <a:r>
              <a:rPr lang="zh-CN" altLang="en-US" sz="1200"/>
              <a:t>置换：</a:t>
            </a:r>
            <a:r>
              <a:rPr lang="zh-CN" altLang="en-US" sz="1200">
                <a:sym typeface="+mn-ea"/>
              </a:rPr>
              <a:t>停机后，</a:t>
            </a:r>
            <a:r>
              <a:rPr lang="zh-CN" altLang="en-US" sz="1200"/>
              <a:t>迅速将含有溶解气体的电解液通过泵置换成新鲜、无气体的电解液，观察反向电流是否消失。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等效电路拟合</a:t>
            </a:r>
            <a:r>
              <a:rPr lang="en-US" altLang="zh-CN" sz="1200" b="1"/>
              <a:t>+</a:t>
            </a:r>
            <a:r>
              <a:rPr lang="zh-CN" altLang="en-US" sz="1200" b="1"/>
              <a:t>阻抗测</a:t>
            </a:r>
            <a:r>
              <a:rPr lang="en-US" altLang="zh-CN" sz="1200" b="1"/>
              <a:t>R</a:t>
            </a:r>
            <a:r>
              <a:rPr lang="zh-CN" altLang="en-US" sz="1200" b="1"/>
              <a:t>：用电阻和电容并联模型来拟合停机后的电流衰减曲线。</a:t>
            </a:r>
            <a:endParaRPr lang="zh-CN" altLang="en-US" sz="1200" b="1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建等效电路：停机后系统抽象为带内阻和界面电容的自放电电池模型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拟合：用</a:t>
            </a:r>
            <a:r>
              <a:rPr lang="en-US" altLang="zh-CN" sz="1200"/>
              <a:t>R‖C </a:t>
            </a:r>
            <a:r>
              <a:rPr lang="zh-CN" altLang="en-US" sz="1200"/>
              <a:t>模型的指数衰减函数拟合实验得到的反向电流</a:t>
            </a:r>
            <a:r>
              <a:rPr lang="en-US" altLang="zh-CN" sz="1200"/>
              <a:t>-</a:t>
            </a:r>
            <a:r>
              <a:rPr lang="zh-CN" altLang="en-US" sz="1200"/>
              <a:t>时间曲线</a:t>
            </a:r>
            <a:endParaRPr lang="zh-CN" altLang="en-US" sz="1200"/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5574030" y="5407025"/>
            <a:ext cx="39058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74030" y="5739765"/>
            <a:ext cx="656653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排除了气体主导论：</a:t>
            </a:r>
            <a:r>
              <a:rPr lang="zh-CN" altLang="en-US" sz="1200"/>
              <a:t>置换后反向电流总电荷量比不置换低</a:t>
            </a:r>
            <a:r>
              <a:rPr lang="en-US" altLang="zh-CN" sz="1200"/>
              <a:t> 10–20%</a:t>
            </a:r>
            <a:r>
              <a:rPr lang="zh-CN" altLang="en-US" sz="1200"/>
              <a:t>，因此气体（</a:t>
            </a:r>
            <a:r>
              <a:rPr lang="en-US" altLang="zh-CN" sz="1200"/>
              <a:t>H</a:t>
            </a:r>
            <a:r>
              <a:rPr lang="en-US" altLang="en-US" sz="1200" baseline="-25000"/>
              <a:t>2</a:t>
            </a:r>
            <a:r>
              <a:rPr lang="en-US" altLang="zh-CN" sz="1200"/>
              <a:t>/O</a:t>
            </a:r>
            <a:r>
              <a:rPr lang="en-US" altLang="en-US" sz="1200" baseline="-25000"/>
              <a:t>2</a:t>
            </a:r>
            <a:r>
              <a:rPr lang="zh-CN" altLang="en-US" sz="1200"/>
              <a:t>）有贡献，但主导驱动力来自</a:t>
            </a:r>
            <a:r>
              <a:rPr lang="en-US" altLang="zh-CN" sz="1200">
                <a:solidFill>
                  <a:srgbClr val="C00000"/>
                </a:solidFill>
              </a:rPr>
              <a:t>Ni</a:t>
            </a:r>
            <a:r>
              <a:rPr lang="zh-CN" altLang="en-US" sz="1200">
                <a:solidFill>
                  <a:srgbClr val="C00000"/>
                </a:solidFill>
              </a:rPr>
              <a:t>电极表面的活性镍基材料</a:t>
            </a:r>
            <a:r>
              <a:rPr lang="zh-CN" altLang="en-US" sz="1200"/>
              <a:t>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明确了贡献比例：</a:t>
            </a:r>
            <a:r>
              <a:rPr lang="zh-CN" altLang="en-US" sz="1200"/>
              <a:t>反向电流受缓慢的</a:t>
            </a:r>
            <a:r>
              <a:rPr lang="zh-CN" altLang="en-US" sz="1200">
                <a:solidFill>
                  <a:srgbClr val="C00000"/>
                </a:solidFill>
              </a:rPr>
              <a:t>电化学还原</a:t>
            </a:r>
            <a:r>
              <a:rPr lang="zh-CN" altLang="en-US" sz="1200"/>
              <a:t>过程控制。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574030" y="1071245"/>
            <a:ext cx="39058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61628" y="4118610"/>
            <a:ext cx="2300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非置换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A 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和置换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B 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情况下，初始、中期和最终时刻的测量电位和氧化还原电对的关系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0350" y="4113530"/>
            <a:ext cx="2477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just" defTabSz="914400">
              <a:tabLst>
                <a:tab pos="268605" algn="l"/>
              </a:tabLst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 A 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泄漏电流（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Leakage current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）与施加电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流密度的对数关系；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 B ) 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U1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的槽电压是外加电流的函数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285" r="6458"/>
          <a:stretch>
            <a:fillRect/>
          </a:stretch>
        </p:blipFill>
        <p:spPr>
          <a:xfrm>
            <a:off x="408940" y="841375"/>
            <a:ext cx="2179955" cy="32613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25" y="793115"/>
            <a:ext cx="2061210" cy="33261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6520180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Uchino, Y. Kobayashi, T. Hasegawa, S. Nagashima, I. Sunada, Y. Manabe, A. Nishiki, Y. Mitsushima, S. Electrochemistry 2018, 86 (3), 138-144.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95" y="4516755"/>
            <a:ext cx="3363595" cy="18129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492568" y="6297930"/>
            <a:ext cx="24771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 defTabSz="914400">
              <a:tabLst>
                <a:tab pos="268605" algn="l"/>
              </a:tabLst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电解槽的简单等效电路</a:t>
            </a:r>
            <a:endParaRPr 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35" y="107315"/>
            <a:ext cx="6019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反向电流机理与基础研究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操作参数、材料影响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441960"/>
            <a:ext cx="1217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Effects of operation and shutdown parameters and electrode materials on the reverse current phenomenon in alkaline water analyzers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41950" y="1423035"/>
            <a:ext cx="6352540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zh-CN" altLang="en-US" sz="1200"/>
              <a:t>实际</a:t>
            </a:r>
            <a:r>
              <a:rPr lang="zh-CN" altLang="en-US" sz="1200">
                <a:solidFill>
                  <a:srgbClr val="C00000"/>
                </a:solidFill>
              </a:rPr>
              <a:t>操作参数</a:t>
            </a:r>
            <a:r>
              <a:rPr lang="zh-CN" altLang="en-US" sz="1200"/>
              <a:t>（如温度、电解液循环泵的开关、停机策略）以及不同</a:t>
            </a:r>
            <a:r>
              <a:rPr lang="zh-CN" altLang="en-US" sz="1200">
                <a:solidFill>
                  <a:srgbClr val="C00000"/>
                </a:solidFill>
              </a:rPr>
              <a:t>电极材料</a:t>
            </a:r>
            <a:r>
              <a:rPr lang="zh-CN" altLang="en-US" sz="1200"/>
              <a:t>的选择，如何影响反向电流的大小和破坏力？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441950" y="2037080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1950" y="2356485"/>
            <a:ext cx="6353175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具体步骤：</a:t>
            </a:r>
            <a:endParaRPr lang="zh-CN" altLang="en-US" sz="1200" b="1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搭建</a:t>
            </a:r>
            <a:r>
              <a:rPr lang="en-US" altLang="zh-CN" sz="1200"/>
              <a:t>4-cell</a:t>
            </a:r>
            <a:r>
              <a:rPr lang="zh-CN" altLang="en-US" sz="1200"/>
              <a:t>零间隙双极板</a:t>
            </a:r>
            <a:r>
              <a:rPr lang="en-US" altLang="zh-CN" sz="1200"/>
              <a:t>AWE</a:t>
            </a:r>
            <a:r>
              <a:rPr lang="zh-CN" altLang="en-US" sz="1200"/>
              <a:t>堆栈并连接对称</a:t>
            </a:r>
            <a:r>
              <a:rPr lang="en-US" altLang="zh-CN" sz="1200"/>
              <a:t>PTFE</a:t>
            </a:r>
            <a:r>
              <a:rPr lang="zh-CN" altLang="en-US" sz="1200"/>
              <a:t>歧管循环系统。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恒流运行</a:t>
            </a:r>
            <a:r>
              <a:rPr lang="en-US" altLang="zh-CN" sz="1200"/>
              <a:t>1 h</a:t>
            </a:r>
            <a:r>
              <a:rPr lang="en-US" altLang="en-US" sz="1200"/>
              <a:t>→</a:t>
            </a:r>
            <a:r>
              <a:rPr lang="zh-CN" altLang="en-US" sz="1200"/>
              <a:t>停机时断开外电路并设置泵开</a:t>
            </a:r>
            <a:r>
              <a:rPr lang="en-US" altLang="zh-CN" sz="1200"/>
              <a:t>/</a:t>
            </a:r>
            <a:r>
              <a:rPr lang="zh-CN" altLang="en-US" sz="1200"/>
              <a:t>泵关</a:t>
            </a:r>
            <a:r>
              <a:rPr lang="en-US" altLang="zh-CN" sz="1200"/>
              <a:t>+N</a:t>
            </a:r>
            <a:r>
              <a:rPr lang="en-US" altLang="en-US" sz="1200" baseline="-25000"/>
              <a:t>2</a:t>
            </a:r>
            <a:r>
              <a:rPr lang="zh-CN" altLang="en-US" sz="1200"/>
              <a:t>鼓泡去除溶解气体等不同停机条件。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用钳表测歧管离子反向电流、用</a:t>
            </a:r>
            <a:r>
              <a:rPr lang="en-US" altLang="zh-CN" sz="1200"/>
              <a:t>RHE</a:t>
            </a:r>
            <a:r>
              <a:rPr lang="zh-CN" altLang="en-US" sz="1200"/>
              <a:t>测阴极电位并同步记录各</a:t>
            </a:r>
            <a:r>
              <a:rPr lang="en-US" altLang="zh-CN" sz="1200"/>
              <a:t>cell</a:t>
            </a:r>
            <a:r>
              <a:rPr lang="zh-CN" altLang="en-US" sz="1200"/>
              <a:t>电压。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通过对反向电流随时间积分得到反向电荷</a:t>
            </a:r>
            <a:r>
              <a:rPr lang="en-US" altLang="zh-CN" sz="1200"/>
              <a:t> Q</a:t>
            </a:r>
            <a:r>
              <a:rPr lang="en-US" altLang="zh-CN" sz="1200" baseline="-25000"/>
              <a:t>rev</a:t>
            </a:r>
            <a:r>
              <a:rPr lang="zh-CN" altLang="en-US" sz="1200"/>
              <a:t>，并结合等效电路模型将堆栈视为自放电电池，解释反向电流与电位的演化机理。</a:t>
            </a:r>
            <a:endParaRPr lang="zh-CN" altLang="en-US" sz="1200"/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利用</a:t>
            </a:r>
            <a:r>
              <a:rPr lang="en-US" altLang="zh-CN" sz="1200">
                <a:sym typeface="+mn-ea"/>
              </a:rPr>
              <a:t> COMSOL </a:t>
            </a:r>
            <a:r>
              <a:rPr lang="zh-CN" altLang="en-US" sz="1200">
                <a:sym typeface="+mn-ea"/>
              </a:rPr>
              <a:t>对歧管内离子电流分布进行多物理场仿真，以验证反向电流的系统级对称回路特征。</a:t>
            </a:r>
            <a:endParaRPr lang="zh-CN" altLang="en-US" sz="1200">
              <a:sym typeface="+mn-ea"/>
            </a:endParaRPr>
          </a:p>
          <a:p>
            <a:pPr marL="228600" indent="-22860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通过改变运行温度（</a:t>
            </a:r>
            <a:r>
              <a:rPr lang="en-US" altLang="zh-CN" sz="1200">
                <a:sym typeface="+mn-ea"/>
              </a:rPr>
              <a:t>60-80</a:t>
            </a:r>
            <a:r>
              <a:rPr lang="en-US" altLang="en-US" sz="1200">
                <a:sym typeface="+mn-ea"/>
              </a:rPr>
              <a:t>°</a:t>
            </a:r>
            <a:r>
              <a:rPr lang="en-US" altLang="zh-CN" sz="1200">
                <a:sym typeface="+mn-ea"/>
              </a:rPr>
              <a:t>C</a:t>
            </a:r>
            <a:r>
              <a:rPr lang="zh-CN" altLang="en-US" sz="1200">
                <a:sym typeface="+mn-ea"/>
              </a:rPr>
              <a:t>）、停机时电解液循环状态（泵开</a:t>
            </a:r>
            <a:r>
              <a:rPr lang="en-US" altLang="zh-CN" sz="1200">
                <a:sym typeface="+mn-ea"/>
              </a:rPr>
              <a:t>/</a:t>
            </a:r>
            <a:r>
              <a:rPr lang="zh-CN" altLang="en-US" sz="1200">
                <a:sym typeface="+mn-ea"/>
              </a:rPr>
              <a:t>关）、阳极材料的氧化物储能能力（</a:t>
            </a:r>
            <a:r>
              <a:rPr lang="en-US" altLang="zh-CN" sz="1200">
                <a:sym typeface="+mn-ea"/>
              </a:rPr>
              <a:t>Ni-based</a:t>
            </a:r>
            <a:r>
              <a:rPr lang="zh-CN" altLang="en-US" sz="1200">
                <a:sym typeface="+mn-ea"/>
              </a:rPr>
              <a:t>），系统分析了不同因素对反向电流强度和持续时间的影响。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5441950" y="4971415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41950" y="5329555"/>
            <a:ext cx="6353175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温度与泵的影响：</a:t>
            </a:r>
            <a:r>
              <a:rPr lang="zh-CN" altLang="en-US" sz="1200"/>
              <a:t>高温和停机后继续开启循环泵会显著增加反向电流（离子传输更快，漏电通路更通畅）。建议停机时</a:t>
            </a:r>
            <a:r>
              <a:rPr lang="zh-CN" altLang="en-US" sz="1200">
                <a:solidFill>
                  <a:srgbClr val="C00000"/>
                </a:solidFill>
              </a:rPr>
              <a:t>降低温度</a:t>
            </a:r>
            <a:r>
              <a:rPr lang="zh-CN" altLang="en-US" sz="1200"/>
              <a:t>并</a:t>
            </a:r>
            <a:r>
              <a:rPr lang="zh-CN" altLang="en-US" sz="1200">
                <a:solidFill>
                  <a:srgbClr val="C00000"/>
                </a:solidFill>
              </a:rPr>
              <a:t>关闭泵</a:t>
            </a:r>
            <a:r>
              <a:rPr lang="zh-CN" altLang="en-US" sz="1200"/>
              <a:t>。</a:t>
            </a:r>
            <a:endParaRPr lang="en-US" altLang="zh-CN" sz="1200"/>
          </a:p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en-US" altLang="zh-CN" sz="1200" b="1"/>
              <a:t>“</a:t>
            </a:r>
            <a:r>
              <a:rPr lang="zh-CN" altLang="en-US" sz="1200" b="1"/>
              <a:t>木桶效应</a:t>
            </a:r>
            <a:r>
              <a:rPr lang="en-US" altLang="zh-CN" sz="1200" b="1"/>
              <a:t>”</a:t>
            </a:r>
            <a:r>
              <a:rPr lang="zh-CN" altLang="en-US" sz="1200" b="1"/>
              <a:t>与电极匹配：</a:t>
            </a:r>
            <a:r>
              <a:rPr lang="zh-CN" altLang="en-US" sz="1200"/>
              <a:t>如果阳极材料非常稳定，会向阴极释放更长时间、更强的反向电流，导致配对的阴极受损更严重。所以选材料要考虑</a:t>
            </a:r>
            <a:r>
              <a:rPr lang="en-US" altLang="zh-CN" sz="1200">
                <a:solidFill>
                  <a:srgbClr val="C00000"/>
                </a:solidFill>
              </a:rPr>
              <a:t>“</a:t>
            </a:r>
            <a:r>
              <a:rPr lang="zh-CN" altLang="en-US" sz="1200">
                <a:solidFill>
                  <a:srgbClr val="C00000"/>
                </a:solidFill>
              </a:rPr>
              <a:t>阴阳匹配</a:t>
            </a:r>
            <a:r>
              <a:rPr lang="en-US" altLang="zh-CN" sz="1200">
                <a:solidFill>
                  <a:srgbClr val="C00000"/>
                </a:solidFill>
              </a:rPr>
              <a:t>”</a:t>
            </a:r>
            <a:r>
              <a:rPr lang="zh-CN" altLang="en-US" sz="1200"/>
              <a:t>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位置效应：</a:t>
            </a:r>
            <a:r>
              <a:rPr lang="zh-CN" altLang="en-US" sz="1200"/>
              <a:t>在电解槽堆中，位于</a:t>
            </a:r>
            <a:r>
              <a:rPr lang="zh-CN" altLang="en-US" sz="1200">
                <a:solidFill>
                  <a:srgbClr val="C00000"/>
                </a:solidFill>
              </a:rPr>
              <a:t>中间位置</a:t>
            </a:r>
            <a:r>
              <a:rPr lang="zh-CN" altLang="en-US" sz="1200"/>
              <a:t>的双极板承受的反向电流通常比两端的</a:t>
            </a:r>
            <a:r>
              <a:rPr lang="zh-CN" altLang="en-US" sz="1200">
                <a:solidFill>
                  <a:srgbClr val="C00000"/>
                </a:solidFill>
              </a:rPr>
              <a:t>更大</a:t>
            </a:r>
            <a:r>
              <a:rPr lang="zh-CN" altLang="en-US" sz="1200"/>
              <a:t>。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441950" y="1071245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2010" y="6254115"/>
            <a:ext cx="400685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对于阳极为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AN-1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AN-2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的电极系统，在水电解条件为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 A/cm</a:t>
            </a:r>
            <a:r>
              <a:rPr lang="en-US" altLang="zh-CN" sz="800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en-US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℃</a:t>
            </a:r>
            <a:r>
              <a:rPr 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h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3702050"/>
            <a:ext cx="4221480" cy="257619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049020" y="3495040"/>
            <a:ext cx="35356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不同位置的双极板在反向电流行为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1072515"/>
            <a:ext cx="4471670" cy="2406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6490335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Abdel Haleem, A. Huyan, J. Nagasawa, K. Kuroda, Y. Nishiki, Y. Kato, A. Nakai, T. Araki, T. Mitsushima, S. Journal of Power Sources 2022, 535.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35" y="86995"/>
            <a:ext cx="5489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反向电流机理与基础研究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阴极相变主导失效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436880"/>
            <a:ext cx="1217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Probing Electrode Transformation under Dynamic Operation for Alkaline Water Electrolysis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02910" y="1255395"/>
            <a:ext cx="6352540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zh-CN" altLang="en-US" sz="1200"/>
              <a:t>在传统的两电极测试中，很难区分阳极和阴极在动态操作（如频繁启停）下各自发生了什么变化。缺乏对阴极和阳极各自</a:t>
            </a:r>
            <a:r>
              <a:rPr lang="zh-CN" altLang="en-US" sz="1200">
                <a:solidFill>
                  <a:srgbClr val="C00000"/>
                </a:solidFill>
              </a:rPr>
              <a:t>独立电位行为</a:t>
            </a:r>
            <a:r>
              <a:rPr lang="zh-CN" altLang="en-US" sz="1200"/>
              <a:t>的理解，导致无法确定</a:t>
            </a:r>
            <a:r>
              <a:rPr lang="zh-CN" altLang="en-US" sz="1200">
                <a:solidFill>
                  <a:srgbClr val="C00000"/>
                </a:solidFill>
              </a:rPr>
              <a:t>谁是由于反向电流而失效</a:t>
            </a:r>
            <a:r>
              <a:rPr lang="zh-CN" altLang="en-US" sz="1200"/>
              <a:t>的</a:t>
            </a:r>
            <a:r>
              <a:rPr lang="en-US" altLang="zh-CN" sz="1200"/>
              <a:t>“</a:t>
            </a:r>
            <a:r>
              <a:rPr lang="zh-CN" altLang="en-US" sz="1200"/>
              <a:t>短板</a:t>
            </a:r>
            <a:r>
              <a:rPr lang="en-US" altLang="zh-CN" sz="1200"/>
              <a:t>”</a:t>
            </a:r>
            <a:r>
              <a:rPr lang="zh-CN" altLang="en-US" sz="1200"/>
              <a:t>。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502910" y="2148840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02910" y="2534285"/>
            <a:ext cx="6353175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sz="1200" b="1"/>
              <a:t>构建三电极</a:t>
            </a:r>
            <a:r>
              <a:rPr lang="en-US" altLang="zh-CN" sz="1200" b="1"/>
              <a:t>MEA</a:t>
            </a:r>
            <a:r>
              <a:rPr lang="zh-CN" altLang="en-US" sz="1200" b="1"/>
              <a:t>装置</a:t>
            </a:r>
            <a:r>
              <a:rPr lang="zh-CN" altLang="en-US" sz="1200"/>
              <a:t>：设计了一个带有</a:t>
            </a:r>
            <a:r>
              <a:rPr lang="zh-CN" altLang="en-US" sz="1200">
                <a:solidFill>
                  <a:srgbClr val="C00000"/>
                </a:solidFill>
              </a:rPr>
              <a:t>微型参比电极</a:t>
            </a:r>
            <a:r>
              <a:rPr lang="zh-CN" altLang="en-US" sz="1200"/>
              <a:t>的膜电极组件装置，使得研究人员可以在零极距条件下，</a:t>
            </a:r>
            <a:r>
              <a:rPr lang="zh-CN" altLang="en-US" sz="1200">
                <a:solidFill>
                  <a:srgbClr val="C00000"/>
                </a:solidFill>
              </a:rPr>
              <a:t>独立监测</a:t>
            </a:r>
            <a:r>
              <a:rPr lang="zh-CN" altLang="en-US" sz="1200"/>
              <a:t>阳极和阴极的电位变化，而不是只看总槽压。</a:t>
            </a:r>
            <a:endParaRPr lang="zh-CN" altLang="en-US" sz="1200"/>
          </a:p>
          <a:p>
            <a:pPr marL="285750" indent="-2857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主电池（零间隙</a:t>
            </a:r>
            <a:r>
              <a:rPr lang="en-US" altLang="zh-CN" sz="1200"/>
              <a:t>AWE</a:t>
            </a:r>
            <a:r>
              <a:rPr lang="zh-CN" altLang="en-US" sz="1200"/>
              <a:t>单电池）：</a:t>
            </a:r>
            <a:r>
              <a:rPr lang="en-US" altLang="zh-CN" sz="1200"/>
              <a:t>Ni felt </a:t>
            </a:r>
            <a:r>
              <a:rPr lang="zh-CN" altLang="en-US" sz="1200"/>
              <a:t>做阳极</a:t>
            </a:r>
            <a:r>
              <a:rPr lang="en-US" altLang="zh-CN" sz="1200"/>
              <a:t> + Ni felt </a:t>
            </a:r>
            <a:r>
              <a:rPr lang="zh-CN" altLang="en-US" sz="1200"/>
              <a:t>做阴极，中间夹</a:t>
            </a:r>
            <a:r>
              <a:rPr lang="en-US" altLang="zh-CN" sz="1200"/>
              <a:t> Zirfon </a:t>
            </a:r>
            <a:r>
              <a:rPr lang="zh-CN" altLang="en-US" sz="1200"/>
              <a:t>隔膜</a:t>
            </a:r>
            <a:endParaRPr lang="zh-CN" altLang="en-US" sz="1200"/>
          </a:p>
          <a:p>
            <a:pPr marL="285750" indent="-2857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额外加一个</a:t>
            </a:r>
            <a:r>
              <a:rPr lang="en-US" altLang="zh-CN" sz="1200"/>
              <a:t>“</a:t>
            </a:r>
            <a:r>
              <a:rPr lang="zh-CN" altLang="en-US" sz="1200"/>
              <a:t>参考电极小腔体</a:t>
            </a:r>
            <a:r>
              <a:rPr lang="en-US" altLang="zh-CN" sz="1200"/>
              <a:t>”</a:t>
            </a:r>
            <a:r>
              <a:rPr lang="zh-CN" altLang="en-US" sz="1200"/>
              <a:t>，用一条</a:t>
            </a:r>
            <a:r>
              <a:rPr lang="en-US" altLang="zh-CN" sz="1200"/>
              <a:t> </a:t>
            </a:r>
            <a:r>
              <a:rPr lang="en-US" altLang="zh-CN" sz="1200">
                <a:solidFill>
                  <a:srgbClr val="C00000"/>
                </a:solidFill>
              </a:rPr>
              <a:t>AEM </a:t>
            </a:r>
            <a:r>
              <a:rPr lang="zh-CN" altLang="en-US" sz="1200">
                <a:solidFill>
                  <a:srgbClr val="C00000"/>
                </a:solidFill>
              </a:rPr>
              <a:t>膜条</a:t>
            </a:r>
            <a:r>
              <a:rPr lang="zh-CN" altLang="en-US" sz="1200"/>
              <a:t>把参考电极</a:t>
            </a:r>
            <a:r>
              <a:rPr lang="en-US" altLang="zh-CN" sz="1200"/>
              <a:t>“</a:t>
            </a:r>
            <a:r>
              <a:rPr lang="zh-CN" altLang="en-US" sz="1200"/>
              <a:t>离子连通</a:t>
            </a:r>
            <a:r>
              <a:rPr lang="en-US" altLang="zh-CN" sz="1200"/>
              <a:t>”</a:t>
            </a:r>
            <a:r>
              <a:rPr lang="zh-CN" altLang="en-US" sz="1200"/>
              <a:t>到主电池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加速应力测试（</a:t>
            </a:r>
            <a:r>
              <a:rPr lang="en-US" altLang="zh-CN" sz="1200" b="1"/>
              <a:t>AST</a:t>
            </a:r>
            <a:r>
              <a:rPr lang="zh-CN" altLang="en-US" sz="1200" b="1"/>
              <a:t>）</a:t>
            </a:r>
            <a:r>
              <a:rPr lang="zh-CN" altLang="en-US" sz="1200"/>
              <a:t>：把真实</a:t>
            </a:r>
            <a:r>
              <a:rPr lang="en-US" altLang="zh-CN" sz="1200"/>
              <a:t>AWE“</a:t>
            </a:r>
            <a:r>
              <a:rPr lang="zh-CN" altLang="en-US" sz="1200"/>
              <a:t>频繁启停时的反向电流</a:t>
            </a:r>
            <a:r>
              <a:rPr lang="en-US" altLang="zh-CN" sz="1200"/>
              <a:t>”</a:t>
            </a:r>
            <a:r>
              <a:rPr lang="zh-CN" altLang="en-US" sz="1200"/>
              <a:t>在单电池里用</a:t>
            </a:r>
            <a:r>
              <a:rPr lang="zh-CN" altLang="en-US" sz="1200">
                <a:solidFill>
                  <a:srgbClr val="C00000"/>
                </a:solidFill>
              </a:rPr>
              <a:t>电控方式</a:t>
            </a:r>
            <a:r>
              <a:rPr lang="zh-CN" altLang="en-US" sz="1200"/>
              <a:t>强行复现，并且快速重复很多次来</a:t>
            </a:r>
            <a:r>
              <a:rPr lang="zh-CN" altLang="en-US" sz="1200">
                <a:solidFill>
                  <a:srgbClr val="C00000"/>
                </a:solidFill>
              </a:rPr>
              <a:t>加速退化</a:t>
            </a:r>
            <a:r>
              <a:rPr lang="zh-CN" altLang="en-US" sz="1200"/>
              <a:t>，模拟真实的可再生能源波动和反向电流工况。</a:t>
            </a:r>
            <a:endParaRPr lang="zh-CN" altLang="en-US" sz="1200"/>
          </a:p>
          <a:p>
            <a:pPr marL="285750" indent="-2857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循环分段：</a:t>
            </a:r>
            <a:r>
              <a:rPr lang="en-US" altLang="zh-CN" sz="1200"/>
              <a:t>1 </a:t>
            </a:r>
            <a:r>
              <a:rPr lang="zh-CN" altLang="en-US" sz="1200"/>
              <a:t>正常运行段（恒流运行几秒</a:t>
            </a:r>
            <a:r>
              <a:rPr lang="en-US" altLang="zh-CN" sz="1200"/>
              <a:t>/</a:t>
            </a:r>
            <a:r>
              <a:rPr lang="zh-CN" altLang="en-US" sz="1200"/>
              <a:t>几十秒）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en-US" altLang="zh-CN" sz="1200"/>
              <a:t>       </a:t>
            </a:r>
            <a:r>
              <a:rPr lang="zh-CN" altLang="en-US" sz="1200"/>
              <a:t> </a:t>
            </a:r>
            <a:r>
              <a:rPr lang="en-US" altLang="zh-CN" sz="1200"/>
              <a:t>                 2 </a:t>
            </a:r>
            <a:r>
              <a:rPr lang="zh-CN" altLang="en-US" sz="1200"/>
              <a:t>关机模拟段（对电池两侧施加</a:t>
            </a:r>
            <a:r>
              <a:rPr lang="en-US" altLang="zh-CN" sz="1200"/>
              <a:t>0 V</a:t>
            </a:r>
            <a:r>
              <a:rPr lang="zh-CN" altLang="en-US" sz="1200"/>
              <a:t>，持续同样时间）</a:t>
            </a:r>
            <a:endParaRPr lang="zh-CN" altLang="en-US" sz="1200"/>
          </a:p>
          <a:p>
            <a:pPr marL="285750" indent="-2857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/>
              <a:t>测试：在不同循环数，插入测试包括全电池极化曲线、</a:t>
            </a:r>
            <a:r>
              <a:rPr lang="en-US" altLang="zh-CN" sz="1200"/>
              <a:t>EIS</a:t>
            </a:r>
            <a:r>
              <a:rPr lang="zh-CN" altLang="en-US" sz="1200"/>
              <a:t>，并结合三电极读数进行阴极</a:t>
            </a:r>
            <a:r>
              <a:rPr lang="en-US" altLang="zh-CN" sz="1200"/>
              <a:t>/</a:t>
            </a:r>
            <a:r>
              <a:rPr lang="zh-CN" altLang="en-US" sz="1200"/>
              <a:t>阳极分别的电压分解。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5502910" y="5142865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02910" y="5501005"/>
            <a:ext cx="635254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失效源头：</a:t>
            </a:r>
            <a:r>
              <a:rPr lang="zh-CN" altLang="en-US" sz="1200"/>
              <a:t>发现在反向电流冲击下，阳极性能反而因为生成了</a:t>
            </a:r>
            <a:r>
              <a:rPr lang="zh-CN" altLang="en-US" sz="1200">
                <a:solidFill>
                  <a:srgbClr val="C00000"/>
                </a:solidFill>
              </a:rPr>
              <a:t>高活性的</a:t>
            </a:r>
            <a:r>
              <a:rPr lang="en-US" altLang="zh-CN" sz="1200">
                <a:solidFill>
                  <a:srgbClr val="C00000"/>
                </a:solidFill>
              </a:rPr>
              <a:t> NiOOH</a:t>
            </a:r>
            <a:r>
              <a:rPr lang="en-US" altLang="zh-CN" sz="1200"/>
              <a:t> </a:t>
            </a:r>
            <a:r>
              <a:rPr lang="zh-CN" altLang="en-US" sz="1200"/>
              <a:t>而有所提升（或者保持稳定），但</a:t>
            </a:r>
            <a:r>
              <a:rPr lang="zh-CN" altLang="en-US" sz="1200">
                <a:solidFill>
                  <a:srgbClr val="C00000"/>
                </a:solidFill>
              </a:rPr>
              <a:t>阴极遭受了毁灭性打击</a:t>
            </a:r>
            <a:r>
              <a:rPr lang="zh-CN" altLang="en-US" sz="1200"/>
              <a:t>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阴极相变机理</a:t>
            </a:r>
            <a:r>
              <a:rPr lang="zh-CN" altLang="en-US" sz="1200"/>
              <a:t>：证实了金属态的</a:t>
            </a:r>
            <a:r>
              <a:rPr lang="en-US" altLang="zh-CN" sz="1200"/>
              <a:t> Ni </a:t>
            </a:r>
            <a:r>
              <a:rPr lang="zh-CN" altLang="en-US" sz="1200"/>
              <a:t>阴极会被氧化成绝缘且热力学稳定的</a:t>
            </a:r>
            <a:r>
              <a:rPr lang="en-US" altLang="zh-CN" sz="1200">
                <a:solidFill>
                  <a:srgbClr val="C00000"/>
                </a:solidFill>
              </a:rPr>
              <a:t>β-Ni(OH)</a:t>
            </a:r>
            <a:r>
              <a:rPr lang="en-US" altLang="zh-CN" sz="1200" baseline="-25000">
                <a:solidFill>
                  <a:srgbClr val="C00000"/>
                </a:solidFill>
              </a:rPr>
              <a:t>2</a:t>
            </a:r>
            <a:r>
              <a:rPr lang="en-US" altLang="zh-CN" sz="1200">
                <a:solidFill>
                  <a:srgbClr val="C00000"/>
                </a:solidFill>
              </a:rPr>
              <a:t> </a:t>
            </a:r>
            <a:r>
              <a:rPr lang="zh-CN" altLang="en-US" sz="1200">
                <a:solidFill>
                  <a:srgbClr val="C00000"/>
                </a:solidFill>
              </a:rPr>
              <a:t>相</a:t>
            </a:r>
            <a:r>
              <a:rPr lang="zh-CN" altLang="en-US" sz="1200"/>
              <a:t>，导致导电性下降和催化剂溶解。</a:t>
            </a:r>
            <a:endParaRPr lang="zh-CN" altLang="en-US" sz="1200"/>
          </a:p>
        </p:txBody>
      </p:sp>
      <p:pic>
        <p:nvPicPr>
          <p:cNvPr id="14" name="图片 13" descr="1-F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3" y="3554730"/>
            <a:ext cx="4994275" cy="2755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02910" y="929005"/>
            <a:ext cx="3779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14935" y="814705"/>
            <a:ext cx="5084445" cy="2552700"/>
            <a:chOff x="117" y="1509"/>
            <a:chExt cx="8102" cy="4072"/>
          </a:xfrm>
        </p:grpSpPr>
        <p:pic>
          <p:nvPicPr>
            <p:cNvPr id="15" name="图片 14" descr="1-F2"/>
            <p:cNvPicPr>
              <a:picLocks noChangeAspect="1"/>
            </p:cNvPicPr>
            <p:nvPr/>
          </p:nvPicPr>
          <p:blipFill>
            <a:blip r:embed="rId2"/>
            <a:srcRect l="5948" r="2719" b="71341"/>
            <a:stretch>
              <a:fillRect/>
            </a:stretch>
          </p:blipFill>
          <p:spPr>
            <a:xfrm>
              <a:off x="117" y="1509"/>
              <a:ext cx="5560" cy="1941"/>
            </a:xfrm>
            <a:prstGeom prst="rect">
              <a:avLst/>
            </a:prstGeom>
          </p:spPr>
        </p:pic>
        <p:pic>
          <p:nvPicPr>
            <p:cNvPr id="16" name="图片 15" descr="1-F2"/>
            <p:cNvPicPr>
              <a:picLocks noChangeAspect="1"/>
            </p:cNvPicPr>
            <p:nvPr/>
          </p:nvPicPr>
          <p:blipFill>
            <a:blip r:embed="rId2"/>
            <a:srcRect l="6304" t="28806" r="50000" b="35546"/>
            <a:stretch>
              <a:fillRect/>
            </a:stretch>
          </p:blipFill>
          <p:spPr>
            <a:xfrm>
              <a:off x="5598" y="1561"/>
              <a:ext cx="2621" cy="1903"/>
            </a:xfrm>
            <a:prstGeom prst="rect">
              <a:avLst/>
            </a:prstGeom>
          </p:spPr>
        </p:pic>
        <p:pic>
          <p:nvPicPr>
            <p:cNvPr id="17" name="图片 16" descr="1-F2"/>
            <p:cNvPicPr>
              <a:picLocks noChangeAspect="1"/>
            </p:cNvPicPr>
            <p:nvPr/>
          </p:nvPicPr>
          <p:blipFill>
            <a:blip r:embed="rId2"/>
            <a:srcRect l="49014" t="28648" b="35546"/>
            <a:stretch>
              <a:fillRect/>
            </a:stretch>
          </p:blipFill>
          <p:spPr>
            <a:xfrm>
              <a:off x="117" y="3459"/>
              <a:ext cx="2969" cy="2080"/>
            </a:xfrm>
            <a:prstGeom prst="rect">
              <a:avLst/>
            </a:prstGeom>
          </p:spPr>
        </p:pic>
        <p:pic>
          <p:nvPicPr>
            <p:cNvPr id="13" name="图片 12" descr="1-F2"/>
            <p:cNvPicPr>
              <a:picLocks noChangeAspect="1"/>
            </p:cNvPicPr>
            <p:nvPr/>
          </p:nvPicPr>
          <p:blipFill>
            <a:blip r:embed="rId2"/>
            <a:srcRect l="5692" t="63823" r="3201"/>
            <a:stretch>
              <a:fillRect/>
            </a:stretch>
          </p:blipFill>
          <p:spPr>
            <a:xfrm>
              <a:off x="2968" y="3432"/>
              <a:ext cx="3844" cy="2149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1531620" y="6306185"/>
            <a:ext cx="22504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RC AST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循环下阳极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电极转化机理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3940" y="3378200"/>
            <a:ext cx="3225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三电极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的构建及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电极在反向电流过程中的电化学行为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6520180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Wang, G. Li, H. Babbe, F. Tricker, A. Crumlin, E. J. Yano, J. Mukundan, R. Peng, X. Advanced Energy Materials 2025, 15 (28).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35" y="86995"/>
            <a:ext cx="638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反向电流机理与基础研究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-Ni-Ru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电极分阶段降解致失效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433070"/>
            <a:ext cx="12178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Reverse-Current Induced Cascade Degradation in Ni–Ru Electrodes: Tracing the Path from Noble Metal Loss to Substrate Corrosion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19065" y="1240155"/>
            <a:ext cx="6636385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en-US" altLang="zh-CN" sz="1200"/>
              <a:t>Ni-Ru</a:t>
            </a:r>
            <a:r>
              <a:rPr lang="zh-CN" altLang="en-US" sz="1200"/>
              <a:t>（镍</a:t>
            </a:r>
            <a:r>
              <a:rPr lang="en-US" altLang="zh-CN" sz="1200"/>
              <a:t>-</a:t>
            </a:r>
            <a:r>
              <a:rPr lang="zh-CN" altLang="en-US" sz="1200"/>
              <a:t>钌）复合电极是工业界常用的高性能阴极，但在反向电流下容易失效。过去的研究往往只看到</a:t>
            </a:r>
            <a:r>
              <a:rPr lang="en-US" altLang="zh-CN" sz="1200"/>
              <a:t>“Ru </a:t>
            </a:r>
            <a:r>
              <a:rPr lang="zh-CN" altLang="en-US" sz="1200"/>
              <a:t>掉了</a:t>
            </a:r>
            <a:r>
              <a:rPr lang="en-US" altLang="zh-CN" sz="1200"/>
              <a:t>”</a:t>
            </a:r>
            <a:r>
              <a:rPr lang="zh-CN" altLang="en-US" sz="1200"/>
              <a:t>或者</a:t>
            </a:r>
            <a:r>
              <a:rPr lang="en-US" altLang="zh-CN" sz="1200"/>
              <a:t>“Ni </a:t>
            </a:r>
            <a:r>
              <a:rPr lang="zh-CN" altLang="en-US" sz="1200"/>
              <a:t>坏了</a:t>
            </a:r>
            <a:r>
              <a:rPr lang="en-US" altLang="zh-CN" sz="1200"/>
              <a:t>”</a:t>
            </a:r>
            <a:r>
              <a:rPr lang="zh-CN" altLang="en-US" sz="1200"/>
              <a:t>，但不知道</a:t>
            </a:r>
            <a:r>
              <a:rPr lang="en-US" altLang="zh-CN" sz="1200"/>
              <a:t>“</a:t>
            </a:r>
            <a:r>
              <a:rPr lang="zh-CN" altLang="en-US" sz="1200">
                <a:solidFill>
                  <a:srgbClr val="C00000"/>
                </a:solidFill>
              </a:rPr>
              <a:t>谁先坏，坏的过程是什么顺序</a:t>
            </a:r>
            <a:r>
              <a:rPr lang="en-US" altLang="zh-CN" sz="1200"/>
              <a:t>”</a:t>
            </a:r>
            <a:r>
              <a:rPr lang="zh-CN" altLang="en-US" sz="1200"/>
              <a:t>。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219065" y="1828800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9065" y="2138045"/>
            <a:ext cx="663702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类反向电流</a:t>
            </a:r>
            <a:r>
              <a:rPr lang="en-US" altLang="zh-CN" sz="1200" b="1"/>
              <a:t>”</a:t>
            </a:r>
            <a:r>
              <a:rPr lang="zh-CN" altLang="en-US" sz="1200" b="1"/>
              <a:t>加速测试（</a:t>
            </a:r>
            <a:r>
              <a:rPr lang="en-US" altLang="zh-CN" sz="1200" b="1"/>
              <a:t>RC-like AST</a:t>
            </a:r>
            <a:r>
              <a:rPr lang="zh-CN" altLang="en-US" sz="1200" b="1"/>
              <a:t>）</a:t>
            </a:r>
            <a:r>
              <a:rPr lang="zh-CN" altLang="en-US" sz="1200"/>
              <a:t>：</a:t>
            </a:r>
            <a:endParaRPr lang="zh-CN" altLang="en-US" sz="1200"/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</a:rPr>
              <a:t>用</a:t>
            </a:r>
            <a:r>
              <a:rPr lang="zh-CN" altLang="en-US" sz="1200">
                <a:solidFill>
                  <a:srgbClr val="C00000"/>
                </a:solidFill>
              </a:rPr>
              <a:t>高频方波</a:t>
            </a:r>
            <a:r>
              <a:rPr lang="zh-CN" altLang="en-US" sz="1200">
                <a:solidFill>
                  <a:schemeClr val="tx1"/>
                </a:solidFill>
              </a:rPr>
              <a:t>在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正常工作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与</a:t>
            </a:r>
            <a:r>
              <a:rPr lang="en-US" altLang="zh-CN" sz="1200">
                <a:solidFill>
                  <a:schemeClr val="tx1"/>
                </a:solidFill>
              </a:rPr>
              <a:t>“RC</a:t>
            </a:r>
            <a:r>
              <a:rPr lang="zh-CN" altLang="en-US" sz="1200">
                <a:solidFill>
                  <a:schemeClr val="tx1"/>
                </a:solidFill>
              </a:rPr>
              <a:t>反向条件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之间快速交替，用最短的步长（秒级）在较短总时间内最大化</a:t>
            </a:r>
            <a:r>
              <a:rPr lang="en-US" altLang="zh-CN" sz="1200">
                <a:solidFill>
                  <a:schemeClr val="tx1"/>
                </a:solidFill>
              </a:rPr>
              <a:t>RC</a:t>
            </a:r>
            <a:r>
              <a:rPr lang="zh-CN" altLang="en-US" sz="1200">
                <a:solidFill>
                  <a:schemeClr val="tx1"/>
                </a:solidFill>
              </a:rPr>
              <a:t>对电极的长期影响。</a:t>
            </a:r>
            <a:endParaRPr lang="zh-CN" altLang="en-US" sz="1200">
              <a:solidFill>
                <a:schemeClr val="tx1"/>
              </a:solidFill>
            </a:endParaRPr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</a:rPr>
              <a:t>通过控制反向电流的</a:t>
            </a:r>
            <a:r>
              <a:rPr lang="zh-CN" altLang="en-US" sz="1200">
                <a:solidFill>
                  <a:srgbClr val="C00000"/>
                </a:solidFill>
              </a:rPr>
              <a:t>大小</a:t>
            </a:r>
            <a:r>
              <a:rPr lang="zh-CN" altLang="en-US" sz="1200">
                <a:solidFill>
                  <a:schemeClr val="tx1"/>
                </a:solidFill>
              </a:rPr>
              <a:t>和</a:t>
            </a:r>
            <a:r>
              <a:rPr lang="en-US" altLang="zh-CN" sz="1200">
                <a:solidFill>
                  <a:schemeClr val="tx1"/>
                </a:solidFill>
              </a:rPr>
              <a:t>RC</a:t>
            </a:r>
            <a:r>
              <a:rPr lang="zh-CN" altLang="en-US" sz="1200">
                <a:solidFill>
                  <a:srgbClr val="C00000"/>
                </a:solidFill>
              </a:rPr>
              <a:t>持续时间</a:t>
            </a:r>
            <a:r>
              <a:rPr lang="zh-CN" altLang="en-US" sz="1200">
                <a:solidFill>
                  <a:schemeClr val="tx1"/>
                </a:solidFill>
              </a:rPr>
              <a:t>（占空比）及</a:t>
            </a:r>
            <a:r>
              <a:rPr lang="zh-CN" altLang="en-US" sz="1200">
                <a:solidFill>
                  <a:srgbClr val="C00000"/>
                </a:solidFill>
              </a:rPr>
              <a:t>循环次数</a:t>
            </a:r>
            <a:r>
              <a:rPr lang="zh-CN" altLang="en-US" sz="1200">
                <a:solidFill>
                  <a:schemeClr val="tx1"/>
                </a:solidFill>
              </a:rPr>
              <a:t>，精确模拟不同程度的损伤。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全过程分阶段表征</a:t>
            </a:r>
            <a:r>
              <a:rPr lang="zh-CN" altLang="en-US" sz="1200"/>
              <a:t>：用</a:t>
            </a:r>
            <a:r>
              <a:rPr lang="en-US" altLang="zh-CN" sz="1200"/>
              <a:t>“</a:t>
            </a:r>
            <a:r>
              <a:rPr lang="zh-CN" altLang="en-US" sz="1200"/>
              <a:t>多证据链</a:t>
            </a:r>
            <a:r>
              <a:rPr lang="en-US" altLang="zh-CN" sz="1200"/>
              <a:t>”</a:t>
            </a:r>
            <a:r>
              <a:rPr lang="zh-CN" altLang="en-US" sz="1200"/>
              <a:t>把失效机制闭环，</a:t>
            </a:r>
            <a:r>
              <a:rPr lang="zh-CN" altLang="en-US" sz="1200">
                <a:sym typeface="+mn-ea"/>
              </a:rPr>
              <a:t>最后把退化拆成</a:t>
            </a:r>
            <a:r>
              <a:rPr lang="zh-CN" altLang="en-US" sz="1200">
                <a:solidFill>
                  <a:srgbClr val="C00000"/>
                </a:solidFill>
                <a:sym typeface="+mn-ea"/>
              </a:rPr>
              <a:t>三阶段演化</a:t>
            </a:r>
            <a:r>
              <a:rPr lang="zh-CN" altLang="en-US" sz="1200">
                <a:sym typeface="+mn-ea"/>
              </a:rPr>
              <a:t>路径。</a:t>
            </a:r>
            <a:endParaRPr lang="zh-CN" altLang="en-US" sz="1200"/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</a:rPr>
              <a:t>电化学：在</a:t>
            </a:r>
            <a:r>
              <a:rPr lang="en-US" altLang="zh-CN" sz="1200">
                <a:solidFill>
                  <a:schemeClr val="tx1"/>
                </a:solidFill>
              </a:rPr>
              <a:t>AST</a:t>
            </a:r>
            <a:r>
              <a:rPr lang="zh-CN" altLang="en-US" sz="1200">
                <a:solidFill>
                  <a:schemeClr val="tx1"/>
                </a:solidFill>
              </a:rPr>
              <a:t>过程中每</a:t>
            </a:r>
            <a:r>
              <a:rPr lang="en-US" altLang="zh-CN" sz="1200">
                <a:solidFill>
                  <a:schemeClr val="tx1"/>
                </a:solidFill>
              </a:rPr>
              <a:t>1000</a:t>
            </a:r>
            <a:r>
              <a:rPr lang="zh-CN" altLang="en-US" sz="1200">
                <a:solidFill>
                  <a:schemeClr val="tx1"/>
                </a:solidFill>
              </a:rPr>
              <a:t>个循环就做一次电化学测量（</a:t>
            </a:r>
            <a:r>
              <a:rPr lang="en-US" altLang="zh-CN" sz="1200">
                <a:solidFill>
                  <a:schemeClr val="tx1"/>
                </a:solidFill>
              </a:rPr>
              <a:t>CV/LSV/EIS</a:t>
            </a:r>
            <a:r>
              <a:rPr lang="zh-CN" altLang="en-US" sz="1200">
                <a:solidFill>
                  <a:schemeClr val="tx1"/>
                </a:solidFill>
              </a:rPr>
              <a:t>）</a:t>
            </a:r>
            <a:endParaRPr lang="zh-CN" altLang="en-US" sz="1200">
              <a:solidFill>
                <a:schemeClr val="tx1"/>
              </a:solidFill>
            </a:endParaRPr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形貌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元素：</a:t>
            </a:r>
            <a:r>
              <a:rPr lang="zh-CN" altLang="en-US" sz="1200">
                <a:solidFill>
                  <a:schemeClr val="tx1"/>
                </a:solidFill>
              </a:rPr>
              <a:t>在</a:t>
            </a:r>
            <a:r>
              <a:rPr lang="en-US" altLang="zh-CN" sz="1200">
                <a:solidFill>
                  <a:schemeClr val="tx1"/>
                </a:solidFill>
              </a:rPr>
              <a:t>关键循环数取</a:t>
            </a:r>
            <a:r>
              <a:rPr lang="zh-CN" altLang="en-US" sz="1200">
                <a:solidFill>
                  <a:schemeClr val="tx1"/>
                </a:solidFill>
              </a:rPr>
              <a:t>样做</a:t>
            </a:r>
            <a:r>
              <a:rPr lang="en-US" altLang="zh-CN" sz="1200">
                <a:solidFill>
                  <a:schemeClr val="tx1"/>
                </a:solidFill>
              </a:rPr>
              <a:t>SEM/EDS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TEM</a:t>
            </a:r>
            <a:endParaRPr lang="en-US" altLang="zh-CN" sz="1200">
              <a:solidFill>
                <a:schemeClr val="tx1"/>
              </a:solidFill>
            </a:endParaRPr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</a:rPr>
              <a:t>溶液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沉淀：</a:t>
            </a:r>
            <a:r>
              <a:rPr lang="en-US" altLang="zh-CN" sz="1200">
                <a:solidFill>
                  <a:schemeClr val="tx1"/>
                </a:solidFill>
              </a:rPr>
              <a:t>ICP-MS</a:t>
            </a:r>
            <a:r>
              <a:rPr lang="zh-CN" altLang="en-US" sz="1200">
                <a:solidFill>
                  <a:schemeClr val="tx1"/>
                </a:solidFill>
              </a:rPr>
              <a:t>（每</a:t>
            </a:r>
            <a:r>
              <a:rPr lang="en-US" altLang="zh-CN" sz="1200">
                <a:solidFill>
                  <a:schemeClr val="tx1"/>
                </a:solidFill>
              </a:rPr>
              <a:t>1000</a:t>
            </a:r>
            <a:r>
              <a:rPr lang="zh-CN" altLang="en-US" sz="1200">
                <a:solidFill>
                  <a:schemeClr val="tx1"/>
                </a:solidFill>
              </a:rPr>
              <a:t>圈取一次溶液）；</a:t>
            </a:r>
            <a:r>
              <a:rPr lang="en-US" altLang="zh-CN" sz="1200">
                <a:solidFill>
                  <a:schemeClr val="tx1"/>
                </a:solidFill>
              </a:rPr>
              <a:t>XPS</a:t>
            </a:r>
            <a:r>
              <a:rPr lang="zh-CN" altLang="en-US" sz="1200">
                <a:solidFill>
                  <a:schemeClr val="tx1"/>
                </a:solidFill>
              </a:rPr>
              <a:t>（证明沉淀里有哪些</a:t>
            </a:r>
            <a:r>
              <a:rPr lang="en-US" altLang="zh-CN" sz="1200">
                <a:solidFill>
                  <a:schemeClr val="tx1"/>
                </a:solidFill>
              </a:rPr>
              <a:t>Ni/Ru</a:t>
            </a:r>
            <a:r>
              <a:rPr lang="zh-CN" altLang="en-US" sz="1200">
                <a:solidFill>
                  <a:schemeClr val="tx1"/>
                </a:solidFill>
              </a:rPr>
              <a:t>物种）</a:t>
            </a:r>
            <a:endParaRPr lang="zh-CN" altLang="en-US" sz="1200">
              <a:solidFill>
                <a:schemeClr val="tx1"/>
              </a:solidFill>
            </a:endParaRPr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</a:rPr>
              <a:t>机理推导与验证：</a:t>
            </a:r>
            <a:r>
              <a:rPr lang="en-US" altLang="zh-CN" sz="1200">
                <a:solidFill>
                  <a:schemeClr val="tx1"/>
                </a:solidFill>
              </a:rPr>
              <a:t>Pourbaix</a:t>
            </a:r>
            <a:r>
              <a:rPr lang="zh-CN" altLang="en-US" sz="1200">
                <a:solidFill>
                  <a:schemeClr val="tx1"/>
                </a:solidFill>
              </a:rPr>
              <a:t>图</a:t>
            </a:r>
            <a:r>
              <a:rPr lang="en-US" altLang="zh-CN" sz="1200">
                <a:solidFill>
                  <a:schemeClr val="tx1"/>
                </a:solidFill>
              </a:rPr>
              <a:t> + COMSOL </a:t>
            </a:r>
            <a:r>
              <a:rPr lang="zh-CN" altLang="en-US" sz="1200">
                <a:solidFill>
                  <a:schemeClr val="tx1"/>
                </a:solidFill>
              </a:rPr>
              <a:t>电偶腐蚀模型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19065" y="442150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19065" y="4693285"/>
            <a:ext cx="663702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en-US" altLang="zh-CN" sz="1200" b="1"/>
              <a:t>“</a:t>
            </a:r>
            <a:r>
              <a:rPr lang="zh-CN" altLang="en-US" sz="1200" b="1"/>
              <a:t>三阶段级联降解</a:t>
            </a:r>
            <a:r>
              <a:rPr lang="en-US" altLang="zh-CN" sz="1200" b="1"/>
              <a:t>”</a:t>
            </a:r>
            <a:r>
              <a:rPr lang="zh-CN" altLang="en-US" sz="1200" b="1"/>
              <a:t>机制</a:t>
            </a:r>
            <a:r>
              <a:rPr lang="zh-CN" altLang="en-US" sz="1200"/>
              <a:t>：</a:t>
            </a:r>
            <a:endParaRPr lang="zh-CN" altLang="en-US" sz="1200"/>
          </a:p>
          <a:p>
            <a:pPr marL="171450" indent="-171450" fontAlgn="auto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200"/>
              <a:t>阶段一（</a:t>
            </a:r>
            <a:r>
              <a:rPr lang="en-US" altLang="zh-CN" sz="1200"/>
              <a:t>Ru </a:t>
            </a:r>
            <a:r>
              <a:rPr lang="zh-CN" altLang="en-US" sz="1200"/>
              <a:t>氧化与熟化）：表面的</a:t>
            </a:r>
            <a:r>
              <a:rPr lang="en-US" altLang="zh-CN" sz="1200"/>
              <a:t> Ru </a:t>
            </a:r>
            <a:r>
              <a:rPr lang="zh-CN" altLang="en-US" sz="1200"/>
              <a:t>被氧化并在表面发生团聚，活性位点减少，但涂层还在。</a:t>
            </a:r>
            <a:endParaRPr lang="zh-CN" altLang="en-US" sz="1200"/>
          </a:p>
          <a:p>
            <a:pPr marL="171450" indent="-171450" fontAlgn="auto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200"/>
              <a:t>阶段二（</a:t>
            </a:r>
            <a:r>
              <a:rPr lang="en-US" altLang="zh-CN" sz="1200"/>
              <a:t>Ni </a:t>
            </a:r>
            <a:r>
              <a:rPr lang="zh-CN" altLang="en-US" sz="1200"/>
              <a:t>基底腐蚀）：</a:t>
            </a:r>
            <a:r>
              <a:rPr lang="en-US" altLang="zh-CN" sz="1200"/>
              <a:t>Ru </a:t>
            </a:r>
            <a:r>
              <a:rPr lang="zh-CN" altLang="en-US" sz="1200"/>
              <a:t>层变疏松后，电解液接触到底层的</a:t>
            </a:r>
            <a:r>
              <a:rPr lang="en-US" altLang="zh-CN" sz="1200"/>
              <a:t> Ni</a:t>
            </a:r>
            <a:r>
              <a:rPr lang="zh-CN" altLang="en-US" sz="1200"/>
              <a:t>。此时贵金属</a:t>
            </a:r>
            <a:r>
              <a:rPr lang="en-US" altLang="zh-CN" sz="1200"/>
              <a:t> Ru </a:t>
            </a:r>
            <a:r>
              <a:rPr lang="zh-CN" altLang="en-US" sz="1200"/>
              <a:t>和活泼金属</a:t>
            </a:r>
            <a:r>
              <a:rPr lang="en-US" altLang="zh-CN" sz="1200"/>
              <a:t> Ni </a:t>
            </a:r>
            <a:r>
              <a:rPr lang="zh-CN" altLang="en-US" sz="1200"/>
              <a:t>形成微电池，发生电偶腐蚀，</a:t>
            </a:r>
            <a:r>
              <a:rPr lang="en-US" altLang="zh-CN" sz="1200"/>
              <a:t>Ni </a:t>
            </a:r>
            <a:r>
              <a:rPr lang="zh-CN" altLang="en-US" sz="1200"/>
              <a:t>被快速溶解。</a:t>
            </a:r>
            <a:endParaRPr lang="zh-CN" altLang="en-US" sz="1200"/>
          </a:p>
          <a:p>
            <a:pPr marL="171450" indent="-171450" fontAlgn="auto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200"/>
              <a:t>阶段三（结构崩塌）：由于基底</a:t>
            </a:r>
            <a:r>
              <a:rPr lang="en-US" altLang="zh-CN" sz="1200"/>
              <a:t> Ni </a:t>
            </a:r>
            <a:r>
              <a:rPr lang="zh-CN" altLang="en-US" sz="1200"/>
              <a:t>被掏空，上层的</a:t>
            </a:r>
            <a:r>
              <a:rPr lang="en-US" altLang="zh-CN" sz="1200"/>
              <a:t> Ru </a:t>
            </a:r>
            <a:r>
              <a:rPr lang="zh-CN" altLang="en-US" sz="1200"/>
              <a:t>彻底失去支撑而机械剥离。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zh-CN" altLang="en-US" sz="1200" b="1"/>
              <a:t>指导意义：</a:t>
            </a:r>
            <a:r>
              <a:rPr lang="zh-CN" altLang="en-US" sz="1200"/>
              <a:t>保护</a:t>
            </a:r>
            <a:r>
              <a:rPr lang="en-US" altLang="zh-CN" sz="1200"/>
              <a:t> Ni-Ru </a:t>
            </a:r>
            <a:r>
              <a:rPr lang="zh-CN" altLang="en-US" sz="1200"/>
              <a:t>电极的关键在于</a:t>
            </a:r>
            <a:r>
              <a:rPr lang="zh-CN" altLang="en-US" sz="1200">
                <a:solidFill>
                  <a:srgbClr val="C00000"/>
                </a:solidFill>
              </a:rPr>
              <a:t>防止第一阶段</a:t>
            </a:r>
            <a:r>
              <a:rPr lang="en-US" altLang="zh-CN" sz="1200">
                <a:solidFill>
                  <a:srgbClr val="C00000"/>
                </a:solidFill>
              </a:rPr>
              <a:t> Ru </a:t>
            </a:r>
            <a:r>
              <a:rPr lang="zh-CN" altLang="en-US" sz="1200">
                <a:solidFill>
                  <a:srgbClr val="C00000"/>
                </a:solidFill>
              </a:rPr>
              <a:t>的氧化</a:t>
            </a:r>
            <a:r>
              <a:rPr lang="zh-CN" altLang="en-US" sz="1200"/>
              <a:t>（例如控制电位低于</a:t>
            </a:r>
            <a:r>
              <a:rPr lang="en-US" altLang="zh-CN" sz="1200"/>
              <a:t> 0.8V</a:t>
            </a:r>
            <a:r>
              <a:rPr lang="zh-CN" altLang="en-US" sz="1200"/>
              <a:t>），一旦</a:t>
            </a:r>
            <a:r>
              <a:rPr lang="en-US" altLang="zh-CN" sz="1200"/>
              <a:t> Ru </a:t>
            </a:r>
            <a:r>
              <a:rPr lang="zh-CN" altLang="en-US" sz="1200"/>
              <a:t>开始氧化，后续的</a:t>
            </a:r>
            <a:r>
              <a:rPr lang="en-US" altLang="zh-CN" sz="1200"/>
              <a:t> Ni </a:t>
            </a:r>
            <a:r>
              <a:rPr lang="zh-CN" altLang="en-US" sz="1200"/>
              <a:t>腐蚀是无法阻挡的连锁反应。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219065" y="92900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04938" y="6288405"/>
            <a:ext cx="22504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通过方案和模拟结果说明降解机理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7258" y="3389630"/>
            <a:ext cx="3225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不同降解阶段的性能变化和形貌特征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4335" r="2379"/>
          <a:stretch>
            <a:fillRect/>
          </a:stretch>
        </p:blipFill>
        <p:spPr>
          <a:xfrm>
            <a:off x="357505" y="1010920"/>
            <a:ext cx="4271010" cy="237680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8" y="3589020"/>
            <a:ext cx="4279900" cy="27108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6501765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Wang, X. Feng, C. Deng, L. Liu, C. Li, F. Yang, L. Gao, Z. Sun, T. Zhu, J. Geng, Z. Zhang, C. Jin, L. Advanced Energy Materials 2025.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35" y="95250"/>
            <a:ext cx="638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牺牲元素与阴极保护策略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外挂牺牲阳极系统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470535"/>
            <a:ext cx="1217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Cathodic Protection System against a Reverse-Current after Shut-Down in Zero-Gap Alkaline Water Electrolysis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67300" y="1270000"/>
            <a:ext cx="6925945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zh-CN" altLang="en-US" sz="1200" b="1"/>
              <a:t>系统级防护缺失：</a:t>
            </a:r>
            <a:r>
              <a:rPr lang="zh-CN" altLang="en-US" sz="1200"/>
              <a:t>现有的研究多集中在改进催化剂材料本身，但对于工业大规模应用，更换所有电极成本太高。能否开发一种</a:t>
            </a:r>
            <a:r>
              <a:rPr lang="zh-CN" altLang="en-US" sz="1200">
                <a:solidFill>
                  <a:srgbClr val="C00000"/>
                </a:solidFill>
              </a:rPr>
              <a:t>外挂式、不改变原有电极结构</a:t>
            </a:r>
            <a:r>
              <a:rPr lang="zh-CN" altLang="en-US" sz="1200"/>
              <a:t>的通用保护系统？</a:t>
            </a:r>
            <a:endParaRPr lang="zh-CN" altLang="en-US" sz="1200"/>
          </a:p>
          <a:p>
            <a:pPr fontAlgn="auto">
              <a:lnSpc>
                <a:spcPct val="130000"/>
              </a:lnSpc>
            </a:pPr>
            <a:r>
              <a:rPr lang="zh-CN" altLang="en-US" sz="1200" b="1"/>
              <a:t>电位钳制需求：</a:t>
            </a:r>
            <a:r>
              <a:rPr lang="zh-CN" altLang="en-US" sz="1200"/>
              <a:t>如何在停机断电的瞬间，强制将</a:t>
            </a:r>
            <a:r>
              <a:rPr lang="zh-CN" altLang="en-US" sz="1200">
                <a:solidFill>
                  <a:srgbClr val="C00000"/>
                </a:solidFill>
              </a:rPr>
              <a:t>阴极电位</a:t>
            </a:r>
            <a:r>
              <a:rPr lang="en-US" altLang="zh-CN" sz="1200"/>
              <a:t>“</a:t>
            </a:r>
            <a:r>
              <a:rPr lang="zh-CN" altLang="en-US" sz="1200"/>
              <a:t>按</a:t>
            </a:r>
            <a:r>
              <a:rPr lang="en-US" altLang="zh-CN" sz="1200"/>
              <a:t>”</a:t>
            </a:r>
            <a:r>
              <a:rPr lang="zh-CN" altLang="en-US" sz="1200"/>
              <a:t>在安全线以下（</a:t>
            </a:r>
            <a:r>
              <a:rPr lang="en-US" altLang="zh-CN" sz="1200"/>
              <a:t>&lt; 0.6 V vs RHE</a:t>
            </a:r>
            <a:r>
              <a:rPr lang="zh-CN" altLang="en-US" sz="1200"/>
              <a:t>），防止</a:t>
            </a:r>
            <a:r>
              <a:rPr lang="en-US" altLang="zh-CN" sz="1200"/>
              <a:t> Ni </a:t>
            </a:r>
            <a:r>
              <a:rPr lang="zh-CN" altLang="en-US" sz="1200"/>
              <a:t>被氧化？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067300" y="2355850"/>
            <a:ext cx="69259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7300" y="2669540"/>
            <a:ext cx="6925945" cy="2036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外接牺牲阳极系统：</a:t>
            </a:r>
            <a:r>
              <a:rPr lang="zh-CN" altLang="en-US" sz="1200">
                <a:solidFill>
                  <a:schemeClr val="tx1"/>
                </a:solidFill>
              </a:rPr>
              <a:t>不改变原有的</a:t>
            </a:r>
            <a:r>
              <a:rPr lang="en-US" altLang="zh-CN" sz="1200">
                <a:solidFill>
                  <a:schemeClr val="tx1"/>
                </a:solidFill>
              </a:rPr>
              <a:t> Ni </a:t>
            </a:r>
            <a:r>
              <a:rPr lang="zh-CN" altLang="en-US" sz="1200">
                <a:solidFill>
                  <a:schemeClr val="tx1"/>
                </a:solidFill>
              </a:rPr>
              <a:t>阴极，而是在电解槽外部并联一个由</a:t>
            </a:r>
            <a:r>
              <a:rPr lang="zh-CN" altLang="en-US" sz="1200">
                <a:solidFill>
                  <a:srgbClr val="C00000"/>
                </a:solidFill>
              </a:rPr>
              <a:t>更活泼金属</a:t>
            </a:r>
            <a:r>
              <a:rPr lang="zh-CN" altLang="en-US" sz="1200">
                <a:solidFill>
                  <a:schemeClr val="tx1"/>
                </a:solidFill>
              </a:rPr>
              <a:t>（如</a:t>
            </a:r>
            <a:r>
              <a:rPr lang="en-US" altLang="zh-CN" sz="1200">
                <a:solidFill>
                  <a:schemeClr val="tx1"/>
                </a:solidFill>
              </a:rPr>
              <a:t> Al, Zn, Pb, Sn</a:t>
            </a:r>
            <a:r>
              <a:rPr lang="zh-CN" altLang="en-US" sz="1200">
                <a:solidFill>
                  <a:schemeClr val="tx1"/>
                </a:solidFill>
              </a:rPr>
              <a:t>）制成的牺牲阳极块。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en-US" altLang="zh-CN" sz="1200" b="1">
                <a:solidFill>
                  <a:schemeClr val="tx1"/>
                </a:solidFill>
              </a:rPr>
              <a:t>“</a:t>
            </a:r>
            <a:r>
              <a:rPr lang="zh-CN" altLang="en-US" sz="1200" b="1">
                <a:solidFill>
                  <a:schemeClr val="tx1"/>
                </a:solidFill>
              </a:rPr>
              <a:t>电位阈值</a:t>
            </a:r>
            <a:r>
              <a:rPr lang="en-US" altLang="zh-CN" sz="1200" b="1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作为设计准则：所有牺牲金属的选择都围绕一个目标，即在反向电流下，把</a:t>
            </a:r>
            <a:r>
              <a:rPr lang="en-US" altLang="zh-CN" sz="1200">
                <a:solidFill>
                  <a:schemeClr val="tx1"/>
                </a:solidFill>
              </a:rPr>
              <a:t> Ni </a:t>
            </a:r>
            <a:r>
              <a:rPr lang="zh-CN" altLang="en-US" sz="1200">
                <a:solidFill>
                  <a:schemeClr val="tx1"/>
                </a:solidFill>
              </a:rPr>
              <a:t>电位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钳制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在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en-US" altLang="zh-CN" sz="1200">
                <a:solidFill>
                  <a:srgbClr val="C00000"/>
                </a:solidFill>
              </a:rPr>
              <a:t>0.6 V </a:t>
            </a:r>
            <a:r>
              <a:rPr lang="zh-CN" altLang="en-US" sz="1200">
                <a:solidFill>
                  <a:srgbClr val="C00000"/>
                </a:solidFill>
              </a:rPr>
              <a:t>以下</a:t>
            </a:r>
            <a:r>
              <a:rPr lang="zh-CN" altLang="en-US" sz="1200">
                <a:solidFill>
                  <a:schemeClr val="tx1"/>
                </a:solidFill>
              </a:rPr>
              <a:t>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>
                <a:sym typeface="+mn-ea"/>
              </a:rPr>
              <a:t>系统筛选牺牲金属：</a:t>
            </a:r>
            <a:r>
              <a:rPr lang="zh-CN" altLang="en-US" sz="1200">
                <a:sym typeface="+mn-ea"/>
              </a:rPr>
              <a:t>标准电极电位、碱性环境下可溶解（</a:t>
            </a:r>
            <a:r>
              <a:rPr lang="en-US" altLang="zh-CN" sz="1200">
                <a:sym typeface="+mn-ea"/>
              </a:rPr>
              <a:t>Pourbaix </a:t>
            </a:r>
            <a:r>
              <a:rPr lang="zh-CN" altLang="en-US" sz="1200">
                <a:sym typeface="+mn-ea"/>
              </a:rPr>
              <a:t>图）、</a:t>
            </a:r>
            <a:r>
              <a:rPr lang="zh-CN" altLang="en-US" sz="1200">
                <a:sym typeface="+mn-ea"/>
              </a:rPr>
              <a:t>成本</a:t>
            </a:r>
            <a:r>
              <a:rPr lang="en-US" altLang="zh-CN" sz="1200">
                <a:sym typeface="+mn-ea"/>
              </a:rPr>
              <a:t> &amp; </a:t>
            </a:r>
            <a:r>
              <a:rPr lang="zh-CN" altLang="en-US" sz="1200">
                <a:sym typeface="+mn-ea"/>
              </a:rPr>
              <a:t>稳定性可接受（</a:t>
            </a:r>
            <a:r>
              <a:rPr lang="en-US" altLang="zh-CN" sz="1200">
                <a:sym typeface="+mn-ea"/>
              </a:rPr>
              <a:t>RCSF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>
              <a:sym typeface="+mn-ea"/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67300" y="4682490"/>
            <a:ext cx="4042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67300" y="4979670"/>
            <a:ext cx="6925945" cy="17697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材料筛选与验证：</a:t>
            </a:r>
            <a:r>
              <a:rPr lang="zh-CN" altLang="en-US" sz="1200"/>
              <a:t>测试了多种金属，发现铅</a:t>
            </a:r>
            <a:r>
              <a:rPr lang="en-US" altLang="zh-CN" sz="1200"/>
              <a:t> </a:t>
            </a:r>
            <a:r>
              <a:rPr lang="en-US" altLang="zh-CN" sz="1200">
                <a:solidFill>
                  <a:srgbClr val="C00000"/>
                </a:solidFill>
              </a:rPr>
              <a:t>Pb </a:t>
            </a:r>
            <a:r>
              <a:rPr lang="zh-CN" altLang="en-US" sz="1200">
                <a:solidFill>
                  <a:srgbClr val="C00000"/>
                </a:solidFill>
              </a:rPr>
              <a:t>是最理想的牺牲材料</a:t>
            </a:r>
            <a:r>
              <a:rPr lang="zh-CN" altLang="en-US" sz="1200"/>
              <a:t>。因为</a:t>
            </a:r>
            <a:r>
              <a:rPr lang="en-US" altLang="zh-CN" sz="1200"/>
              <a:t> Al </a:t>
            </a:r>
            <a:r>
              <a:rPr lang="zh-CN" altLang="en-US" sz="1200"/>
              <a:t>和</a:t>
            </a:r>
            <a:r>
              <a:rPr lang="en-US" altLang="zh-CN" sz="1200"/>
              <a:t> Zn </a:t>
            </a:r>
            <a:r>
              <a:rPr lang="zh-CN" altLang="en-US" sz="1200"/>
              <a:t>在碱性液中自腐蚀太快（没等保护就溶完了），而</a:t>
            </a:r>
            <a:r>
              <a:rPr lang="en-US" altLang="zh-CN" sz="1200"/>
              <a:t> Pb </a:t>
            </a:r>
            <a:r>
              <a:rPr lang="zh-CN" altLang="en-US" sz="1200"/>
              <a:t>表面能形成适度保护膜，既能导电又能抗自腐蚀。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完美的电位钳制：</a:t>
            </a:r>
            <a:r>
              <a:rPr lang="zh-CN" altLang="en-US" sz="1200"/>
              <a:t>在反向电流发生时，连接</a:t>
            </a:r>
            <a:r>
              <a:rPr lang="en-US" altLang="zh-CN" sz="1200"/>
              <a:t> Pb </a:t>
            </a:r>
            <a:r>
              <a:rPr lang="zh-CN" altLang="en-US" sz="1200"/>
              <a:t>牺牲阳极的</a:t>
            </a:r>
            <a:r>
              <a:rPr lang="en-US" altLang="zh-CN" sz="1200"/>
              <a:t> Ni </a:t>
            </a:r>
            <a:r>
              <a:rPr lang="zh-CN" altLang="en-US" sz="1200"/>
              <a:t>阴极，其电位被牢牢</a:t>
            </a:r>
            <a:r>
              <a:rPr lang="zh-CN" altLang="en-US" sz="1200">
                <a:solidFill>
                  <a:srgbClr val="C00000"/>
                </a:solidFill>
              </a:rPr>
              <a:t>钳制在</a:t>
            </a:r>
            <a:r>
              <a:rPr lang="en-US" altLang="zh-CN" sz="1200">
                <a:solidFill>
                  <a:srgbClr val="C00000"/>
                </a:solidFill>
              </a:rPr>
              <a:t>0.2 V</a:t>
            </a:r>
            <a:r>
              <a:rPr lang="zh-CN" altLang="en-US" sz="1200"/>
              <a:t>左右（远低于</a:t>
            </a:r>
            <a:r>
              <a:rPr lang="en-US" altLang="zh-CN" sz="1200"/>
              <a:t> Ni </a:t>
            </a:r>
            <a:r>
              <a:rPr lang="zh-CN" altLang="en-US" sz="1200"/>
              <a:t>氧化的起始电位</a:t>
            </a:r>
            <a:r>
              <a:rPr lang="en-US" altLang="zh-CN" sz="1200"/>
              <a:t> 0.6 V</a:t>
            </a:r>
            <a:r>
              <a:rPr lang="zh-CN" altLang="en-US" sz="1200"/>
              <a:t>），从而实现了</a:t>
            </a:r>
            <a:r>
              <a:rPr lang="en-US" altLang="zh-CN" sz="1200"/>
              <a:t> 100% </a:t>
            </a:r>
            <a:r>
              <a:rPr lang="zh-CN" altLang="en-US" sz="1200"/>
              <a:t>的金属态保护。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经济性：</a:t>
            </a:r>
            <a:r>
              <a:rPr lang="zh-CN" altLang="en-US" sz="1200"/>
              <a:t>这是一种极低成本的方案，不需要昂贵的电源控制设备（如极化整流器），只需一块便宜的铅块。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067300" y="953770"/>
            <a:ext cx="69259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36053" y="6294755"/>
            <a:ext cx="22504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用牺牲阳极对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进行电化学测量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54088" y="3387725"/>
            <a:ext cx="3225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碱性电解槽停槽后反向电流流对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电极的降解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802005"/>
            <a:ext cx="4131945" cy="26276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3580130"/>
            <a:ext cx="3870325" cy="27425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80" y="3930650"/>
            <a:ext cx="2667000" cy="7696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15" y="6576060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Kim, Y. Jung, S. M. Kim, K. S. Kim, H. Y. Kwon, J. Lee, J. Cho, H. S. Kim, Y. T. JACS Au 2022, 2 (11), 2491-2500.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83360" y="3980180"/>
            <a:ext cx="8312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LSV</a:t>
            </a:r>
            <a:r>
              <a:rPr lang="zh-CN" altLang="en-US" sz="500"/>
              <a:t>极化曲线，活性</a:t>
            </a:r>
            <a:endParaRPr lang="zh-CN" altLang="en-US" sz="500"/>
          </a:p>
          <a:p>
            <a:r>
              <a:rPr lang="en-US" altLang="zh-CN" sz="500"/>
              <a:t>RC</a:t>
            </a:r>
            <a:r>
              <a:rPr lang="zh-CN" altLang="en-US" sz="500"/>
              <a:t>后</a:t>
            </a:r>
            <a:r>
              <a:rPr lang="en-US" altLang="zh-CN" sz="500"/>
              <a:t>HER</a:t>
            </a:r>
            <a:r>
              <a:rPr lang="zh-CN" altLang="en-US" sz="500"/>
              <a:t>过电位升高</a:t>
            </a:r>
            <a:endParaRPr lang="en-US" altLang="zh-CN" sz="500"/>
          </a:p>
        </p:txBody>
      </p:sp>
      <p:sp>
        <p:nvSpPr>
          <p:cNvPr id="15" name="文本框 14"/>
          <p:cNvSpPr txBox="1"/>
          <p:nvPr/>
        </p:nvSpPr>
        <p:spPr>
          <a:xfrm>
            <a:off x="3545205" y="3768090"/>
            <a:ext cx="69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"/>
              <a:t>Tafel</a:t>
            </a:r>
            <a:r>
              <a:rPr lang="zh-CN" altLang="en-US" sz="600"/>
              <a:t>斜率，加</a:t>
            </a:r>
            <a:r>
              <a:rPr lang="en-US" altLang="zh-CN" sz="600"/>
              <a:t>Pb</a:t>
            </a:r>
            <a:r>
              <a:rPr lang="zh-CN" altLang="en-US" sz="600"/>
              <a:t>后反应动力学保持</a:t>
            </a:r>
            <a:endParaRPr lang="zh-CN" altLang="en-US" sz="600"/>
          </a:p>
        </p:txBody>
      </p:sp>
      <p:sp>
        <p:nvSpPr>
          <p:cNvPr id="16" name="文本框 15"/>
          <p:cNvSpPr txBox="1"/>
          <p:nvPr/>
        </p:nvSpPr>
        <p:spPr>
          <a:xfrm>
            <a:off x="1578610" y="5326380"/>
            <a:ext cx="6889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00"/>
              <a:t>EIS:RC</a:t>
            </a:r>
            <a:r>
              <a:rPr lang="zh-CN" altLang="en-US" sz="500"/>
              <a:t>后界面电阻增大（直径）</a:t>
            </a:r>
            <a:endParaRPr lang="zh-CN" altLang="en-US" sz="500"/>
          </a:p>
        </p:txBody>
      </p:sp>
      <p:sp>
        <p:nvSpPr>
          <p:cNvPr id="17" name="文本框 16"/>
          <p:cNvSpPr txBox="1"/>
          <p:nvPr/>
        </p:nvSpPr>
        <p:spPr>
          <a:xfrm>
            <a:off x="3637280" y="4841875"/>
            <a:ext cx="107315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RC </a:t>
            </a:r>
            <a:r>
              <a:rPr lang="zh-CN" altLang="en-US" sz="500"/>
              <a:t>时始终</a:t>
            </a:r>
            <a:r>
              <a:rPr lang="en-US" altLang="zh-CN" sz="500"/>
              <a:t> &lt;0.6 V vs RHE</a:t>
            </a:r>
            <a:endParaRPr lang="en-US" altLang="zh-CN" sz="500"/>
          </a:p>
          <a:p>
            <a:r>
              <a:rPr lang="en-US" altLang="zh-CN" sz="500"/>
              <a:t>HER </a:t>
            </a:r>
            <a:r>
              <a:rPr lang="zh-CN" altLang="en-US" sz="500"/>
              <a:t>过电位几乎不变，甚至略有改善</a:t>
            </a:r>
            <a:endParaRPr lang="zh-CN" altLang="en-US" sz="500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441768" y="6228080"/>
            <a:ext cx="22504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RC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条件下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 / 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催化剂的测定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3512185"/>
            <a:ext cx="4115435" cy="27095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" y="1019810"/>
            <a:ext cx="4848860" cy="22332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335" y="112395"/>
            <a:ext cx="725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牺牲元素与阴极保护策略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sym typeface="+mn-ea"/>
              </a:rPr>
              <a:t>表面牺牲元素修饰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70" y="487680"/>
            <a:ext cx="12178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Reverse-Current Tolerance for Hydrogen Evolution ReactionActivity of Lead-Decorated Nickel Catalysts in Zero-GapAlkaline Water Electrolysis Systems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19065" y="1229995"/>
            <a:ext cx="6636385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en-US" altLang="zh-CN" sz="1200" b="1"/>
              <a:t>“</a:t>
            </a:r>
            <a:r>
              <a:rPr lang="zh-CN" altLang="en-US" sz="1200" b="1"/>
              <a:t>变废为宝</a:t>
            </a:r>
            <a:r>
              <a:rPr lang="en-US" altLang="zh-CN" sz="1200" b="1"/>
              <a:t>”</a:t>
            </a:r>
            <a:r>
              <a:rPr lang="zh-CN" altLang="en-US" sz="1200" b="1"/>
              <a:t>的可能性：</a:t>
            </a:r>
            <a:r>
              <a:rPr lang="zh-CN" altLang="en-US" sz="1200"/>
              <a:t>如果不想外挂一个笨重的牺牲阳极系统，能不能直接把</a:t>
            </a:r>
            <a:r>
              <a:rPr lang="zh-CN" altLang="en-US" sz="1200">
                <a:solidFill>
                  <a:srgbClr val="C00000"/>
                </a:solidFill>
              </a:rPr>
              <a:t>牺牲元素原子级地修饰在催化剂表面</a:t>
            </a:r>
            <a:r>
              <a:rPr lang="zh-CN" altLang="en-US" sz="1200"/>
              <a:t>？</a:t>
            </a:r>
            <a:endParaRPr lang="zh-CN" altLang="en-US" sz="1200"/>
          </a:p>
          <a:p>
            <a:pPr fontAlgn="auto">
              <a:lnSpc>
                <a:spcPct val="130000"/>
              </a:lnSpc>
            </a:pPr>
            <a:r>
              <a:rPr lang="en-US" sz="1200" b="1"/>
              <a:t>Pb</a:t>
            </a:r>
            <a:r>
              <a:rPr lang="zh-CN" altLang="en-US" sz="1200" b="1"/>
              <a:t>的双重角色：</a:t>
            </a:r>
            <a:r>
              <a:rPr lang="zh-CN" altLang="en-US" sz="1200"/>
              <a:t>通常认为</a:t>
            </a:r>
            <a:r>
              <a:rPr lang="en-US" altLang="zh-CN" sz="1200"/>
              <a:t> Pb</a:t>
            </a:r>
            <a:r>
              <a:rPr lang="zh-CN" altLang="en-US" sz="1200"/>
              <a:t>对析氢反应活性很差，是个</a:t>
            </a:r>
            <a:r>
              <a:rPr lang="en-US" altLang="zh-CN" sz="1200"/>
              <a:t>“</a:t>
            </a:r>
            <a:r>
              <a:rPr lang="zh-CN" altLang="en-US" sz="1200"/>
              <a:t>毒化剂</a:t>
            </a:r>
            <a:r>
              <a:rPr lang="en-US" altLang="zh-CN" sz="1200"/>
              <a:t>”</a:t>
            </a:r>
            <a:r>
              <a:rPr lang="zh-CN" altLang="en-US" sz="1200"/>
              <a:t>。但如果利用它来抗反向电流，它会不会反而拖累正常工作的活性？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219065" y="233870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8430" y="2627630"/>
            <a:ext cx="6637020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/>
              <a:t>表面牺牲元素修饰：</a:t>
            </a:r>
            <a:r>
              <a:rPr lang="zh-CN" altLang="en-US" sz="1200">
                <a:solidFill>
                  <a:schemeClr val="tx1"/>
                </a:solidFill>
              </a:rPr>
              <a:t>通过简单的电沉积或浸渍法，在多孔镍催化剂</a:t>
            </a:r>
            <a:r>
              <a:rPr lang="zh-CN" altLang="en-US" sz="1200">
                <a:solidFill>
                  <a:srgbClr val="C00000"/>
                </a:solidFill>
              </a:rPr>
              <a:t>表面修饰</a:t>
            </a:r>
            <a:r>
              <a:rPr lang="zh-CN" altLang="en-US" sz="1200">
                <a:solidFill>
                  <a:schemeClr val="tx1"/>
                </a:solidFill>
              </a:rPr>
              <a:t>少量的</a:t>
            </a:r>
            <a:r>
              <a:rPr lang="en-US" altLang="zh-CN" sz="1200">
                <a:solidFill>
                  <a:schemeClr val="tx1"/>
                </a:solidFill>
              </a:rPr>
              <a:t> Pb</a:t>
            </a:r>
            <a:r>
              <a:rPr lang="zh-CN" altLang="en-US" sz="1200">
                <a:solidFill>
                  <a:schemeClr val="tx1"/>
                </a:solidFill>
              </a:rPr>
              <a:t>（形成</a:t>
            </a:r>
            <a:r>
              <a:rPr lang="en-US" altLang="zh-CN" sz="1200">
                <a:solidFill>
                  <a:schemeClr val="tx1"/>
                </a:solidFill>
              </a:rPr>
              <a:t> Pb/Ni</a:t>
            </a:r>
            <a:r>
              <a:rPr lang="zh-CN" altLang="en-US" sz="1200">
                <a:solidFill>
                  <a:schemeClr val="tx1"/>
                </a:solidFill>
              </a:rPr>
              <a:t>）。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CN" sz="1200" b="1">
                <a:solidFill>
                  <a:schemeClr val="tx1"/>
                </a:solidFill>
              </a:rPr>
              <a:t>RC </a:t>
            </a:r>
            <a:r>
              <a:rPr lang="zh-CN" altLang="en-US" sz="1200" b="1">
                <a:solidFill>
                  <a:schemeClr val="tx1"/>
                </a:solidFill>
              </a:rPr>
              <a:t>模拟方法：</a:t>
            </a:r>
            <a:r>
              <a:rPr lang="zh-CN" altLang="en-US" sz="1200">
                <a:solidFill>
                  <a:schemeClr val="tx1"/>
                </a:solidFill>
              </a:rPr>
              <a:t>用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加速电化学循环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代替真实堆停机，在三电极体系中构建</a:t>
            </a:r>
            <a:r>
              <a:rPr lang="en-US" altLang="zh-CN" sz="1200">
                <a:solidFill>
                  <a:schemeClr val="tx1"/>
                </a:solidFill>
              </a:rPr>
              <a:t> HER–RC </a:t>
            </a:r>
            <a:r>
              <a:rPr lang="zh-CN" altLang="en-US" sz="1200">
                <a:solidFill>
                  <a:schemeClr val="tx1"/>
                </a:solidFill>
              </a:rPr>
              <a:t>循环协议，</a:t>
            </a:r>
            <a:r>
              <a:rPr lang="zh-CN" altLang="en-US" sz="1200">
                <a:solidFill>
                  <a:srgbClr val="C00000"/>
                </a:solidFill>
              </a:rPr>
              <a:t>模拟</a:t>
            </a:r>
            <a:r>
              <a:rPr lang="en-US" altLang="zh-CN" sz="1200">
                <a:solidFill>
                  <a:srgbClr val="C00000"/>
                </a:solidFill>
              </a:rPr>
              <a:t> AWE </a:t>
            </a:r>
            <a:r>
              <a:rPr lang="zh-CN" altLang="en-US" sz="1200">
                <a:solidFill>
                  <a:srgbClr val="C00000"/>
                </a:solidFill>
              </a:rPr>
              <a:t>启停</a:t>
            </a:r>
            <a:r>
              <a:rPr lang="zh-CN" altLang="en-US" sz="1200">
                <a:solidFill>
                  <a:schemeClr val="tx1"/>
                </a:solidFill>
              </a:rPr>
              <a:t>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耐受的量化指标</a:t>
            </a:r>
            <a:r>
              <a:rPr lang="zh-CN" altLang="en-US" sz="1200">
                <a:solidFill>
                  <a:schemeClr val="tx1"/>
                </a:solidFill>
              </a:rPr>
              <a:t>：</a:t>
            </a:r>
            <a:r>
              <a:rPr lang="en-US" altLang="zh-CN" sz="1200">
                <a:solidFill>
                  <a:schemeClr val="tx1"/>
                </a:solidFill>
              </a:rPr>
              <a:t>RCSF</a:t>
            </a:r>
            <a:r>
              <a:rPr lang="zh-CN" altLang="en-US" sz="1200">
                <a:solidFill>
                  <a:schemeClr val="tx1"/>
                </a:solidFill>
              </a:rPr>
              <a:t>（</a:t>
            </a:r>
            <a:r>
              <a:rPr lang="en-US" altLang="zh-CN" sz="1200">
                <a:solidFill>
                  <a:schemeClr val="tx1"/>
                </a:solidFill>
              </a:rPr>
              <a:t> RC </a:t>
            </a:r>
            <a:r>
              <a:rPr lang="zh-CN" altLang="en-US" sz="1200">
                <a:solidFill>
                  <a:schemeClr val="tx1"/>
                </a:solidFill>
              </a:rPr>
              <a:t>前后性能衰减程度）、</a:t>
            </a:r>
            <a:r>
              <a:rPr lang="en-US" altLang="zh-CN" sz="1200">
                <a:solidFill>
                  <a:schemeClr val="tx1"/>
                </a:solidFill>
              </a:rPr>
              <a:t>RCAF</a:t>
            </a:r>
            <a:r>
              <a:rPr lang="zh-CN" altLang="en-US" sz="1200">
                <a:solidFill>
                  <a:schemeClr val="tx1"/>
                </a:solidFill>
              </a:rPr>
              <a:t>（</a:t>
            </a:r>
            <a:r>
              <a:rPr lang="en-US" altLang="zh-CN" sz="1200">
                <a:solidFill>
                  <a:schemeClr val="tx1"/>
                </a:solidFill>
              </a:rPr>
              <a:t>RC </a:t>
            </a:r>
            <a:r>
              <a:rPr lang="zh-CN" altLang="en-US" sz="1200">
                <a:solidFill>
                  <a:schemeClr val="tx1"/>
                </a:solidFill>
              </a:rPr>
              <a:t>后的</a:t>
            </a:r>
            <a:r>
              <a:rPr lang="en-US" altLang="zh-CN" sz="1200">
                <a:solidFill>
                  <a:schemeClr val="tx1"/>
                </a:solidFill>
              </a:rPr>
              <a:t> HER </a:t>
            </a:r>
            <a:r>
              <a:rPr lang="zh-CN" altLang="en-US" sz="1200">
                <a:solidFill>
                  <a:schemeClr val="tx1"/>
                </a:solidFill>
              </a:rPr>
              <a:t>活性保持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提升程度）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电化学分析</a:t>
            </a:r>
            <a:r>
              <a:rPr lang="zh-CN" altLang="en-US" sz="1200">
                <a:solidFill>
                  <a:schemeClr val="tx1"/>
                </a:solidFill>
              </a:rPr>
              <a:t>：</a:t>
            </a:r>
            <a:r>
              <a:rPr lang="en-US" altLang="zh-CN" sz="1200">
                <a:solidFill>
                  <a:schemeClr val="tx1"/>
                </a:solidFill>
              </a:rPr>
              <a:t>LSV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EIS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Tafel </a:t>
            </a:r>
            <a:r>
              <a:rPr lang="zh-CN" altLang="en-US" sz="1200">
                <a:solidFill>
                  <a:schemeClr val="tx1"/>
                </a:solidFill>
              </a:rPr>
              <a:t>分析</a:t>
            </a:r>
            <a:r>
              <a:rPr lang="en-US" altLang="zh-CN" sz="1200">
                <a:solidFill>
                  <a:schemeClr val="tx1"/>
                </a:solidFill>
              </a:rPr>
              <a:t> RC </a:t>
            </a:r>
            <a:r>
              <a:rPr lang="zh-CN" altLang="en-US" sz="1200">
                <a:solidFill>
                  <a:schemeClr val="tx1"/>
                </a:solidFill>
              </a:rPr>
              <a:t>前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后变化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机理表征：</a:t>
            </a:r>
            <a:r>
              <a:rPr lang="zh-CN" altLang="en-US" sz="1200">
                <a:solidFill>
                  <a:schemeClr val="tx1"/>
                </a:solidFill>
              </a:rPr>
              <a:t>构建两电极自放电模型（阴极</a:t>
            </a:r>
            <a:r>
              <a:rPr lang="en-US" altLang="zh-CN" sz="1200">
                <a:solidFill>
                  <a:schemeClr val="tx1"/>
                </a:solidFill>
              </a:rPr>
              <a:t> HER + </a:t>
            </a:r>
            <a:r>
              <a:rPr lang="zh-CN" altLang="en-US" sz="1200">
                <a:solidFill>
                  <a:schemeClr val="tx1"/>
                </a:solidFill>
              </a:rPr>
              <a:t>阳极</a:t>
            </a:r>
            <a:r>
              <a:rPr lang="en-US" altLang="zh-CN" sz="1200">
                <a:solidFill>
                  <a:schemeClr val="tx1"/>
                </a:solidFill>
              </a:rPr>
              <a:t> OER</a:t>
            </a:r>
            <a:r>
              <a:rPr lang="zh-CN" altLang="en-US" sz="1200">
                <a:solidFill>
                  <a:schemeClr val="tx1"/>
                </a:solidFill>
              </a:rPr>
              <a:t>，用盐桥连接）。</a:t>
            </a:r>
            <a:endParaRPr lang="zh-CN" altLang="en-US" sz="1200">
              <a:solidFill>
                <a:schemeClr val="tx1"/>
              </a:solidFill>
            </a:endParaRPr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tx1"/>
                </a:solidFill>
              </a:rPr>
              <a:t>机理一：水活化效应</a:t>
            </a:r>
            <a:r>
              <a:rPr lang="zh-CN" altLang="en-US" sz="1200">
                <a:solidFill>
                  <a:schemeClr val="tx1"/>
                </a:solidFill>
              </a:rPr>
              <a:t>（原位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准原位</a:t>
            </a:r>
            <a:r>
              <a:rPr lang="en-US" altLang="zh-CN" sz="1200">
                <a:solidFill>
                  <a:schemeClr val="tx1"/>
                </a:solidFill>
              </a:rPr>
              <a:t> AP-XPS</a:t>
            </a:r>
            <a:r>
              <a:rPr lang="zh-CN" altLang="en-US" sz="1200">
                <a:solidFill>
                  <a:schemeClr val="tx1"/>
                </a:solidFill>
              </a:rPr>
              <a:t>；</a:t>
            </a:r>
            <a:r>
              <a:rPr lang="en-US" altLang="zh-CN" sz="1200">
                <a:solidFill>
                  <a:schemeClr val="tx1"/>
                </a:solidFill>
              </a:rPr>
              <a:t>DFT </a:t>
            </a:r>
            <a:r>
              <a:rPr lang="zh-CN" altLang="en-US" sz="1200">
                <a:solidFill>
                  <a:schemeClr val="tx1"/>
                </a:solidFill>
              </a:rPr>
              <a:t>计算水解离能垒）</a:t>
            </a:r>
            <a:endParaRPr lang="zh-CN" altLang="en-US" sz="1200">
              <a:solidFill>
                <a:schemeClr val="tx1"/>
              </a:solidFill>
            </a:endParaRPr>
          </a:p>
          <a:p>
            <a:pPr marL="171450" indent="-171450" fontAlgn="auto">
              <a:lnSpc>
                <a:spcPct val="13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tx1"/>
                </a:solidFill>
              </a:rPr>
              <a:t>机理二：</a:t>
            </a:r>
            <a:r>
              <a:rPr lang="zh-CN" altLang="en-US" sz="1200" b="1">
                <a:solidFill>
                  <a:schemeClr val="tx1"/>
                </a:solidFill>
              </a:rPr>
              <a:t>配体效应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zh-CN" altLang="en-US" sz="1200">
                <a:solidFill>
                  <a:schemeClr val="tx1"/>
                </a:solidFill>
              </a:rPr>
              <a:t>（</a:t>
            </a:r>
            <a:r>
              <a:rPr lang="en-US" altLang="zh-CN" sz="1200">
                <a:solidFill>
                  <a:schemeClr val="tx1"/>
                </a:solidFill>
              </a:rPr>
              <a:t>XPS</a:t>
            </a:r>
            <a:r>
              <a:rPr lang="zh-CN" altLang="en-US" sz="1200">
                <a:solidFill>
                  <a:schemeClr val="tx1"/>
                </a:solidFill>
              </a:rPr>
              <a:t>（</a:t>
            </a:r>
            <a:r>
              <a:rPr lang="en-US" altLang="zh-CN" sz="1200">
                <a:solidFill>
                  <a:schemeClr val="tx1"/>
                </a:solidFill>
              </a:rPr>
              <a:t>Ni 2p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Pb 4f</a:t>
            </a:r>
            <a:r>
              <a:rPr lang="zh-CN" altLang="en-US" sz="1200">
                <a:solidFill>
                  <a:schemeClr val="tx1"/>
                </a:solidFill>
              </a:rPr>
              <a:t>）；</a:t>
            </a:r>
            <a:r>
              <a:rPr lang="en-US" altLang="zh-CN" sz="1200">
                <a:solidFill>
                  <a:schemeClr val="tx1"/>
                </a:solidFill>
              </a:rPr>
              <a:t>DFT </a:t>
            </a:r>
            <a:r>
              <a:rPr lang="zh-CN" altLang="en-US" sz="1200">
                <a:solidFill>
                  <a:schemeClr val="tx1"/>
                </a:solidFill>
              </a:rPr>
              <a:t>计算</a:t>
            </a:r>
            <a:r>
              <a:rPr lang="en-US" altLang="zh-CN" sz="1200">
                <a:solidFill>
                  <a:schemeClr val="tx1"/>
                </a:solidFill>
              </a:rPr>
              <a:t> H </a:t>
            </a:r>
            <a:r>
              <a:rPr lang="zh-CN" altLang="en-US" sz="1200">
                <a:solidFill>
                  <a:schemeClr val="tx1"/>
                </a:solidFill>
              </a:rPr>
              <a:t>吸附自由能、</a:t>
            </a:r>
            <a:r>
              <a:rPr lang="en-US" altLang="zh-CN" sz="1200">
                <a:solidFill>
                  <a:schemeClr val="tx1"/>
                </a:solidFill>
              </a:rPr>
              <a:t>O-2p </a:t>
            </a:r>
            <a:r>
              <a:rPr lang="zh-CN" altLang="en-US" sz="1200">
                <a:solidFill>
                  <a:schemeClr val="tx1"/>
                </a:solidFill>
              </a:rPr>
              <a:t>带心）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工业相关性验证：</a:t>
            </a:r>
            <a:r>
              <a:rPr lang="zh-CN" altLang="en-US" sz="1200">
                <a:solidFill>
                  <a:schemeClr val="tx1"/>
                </a:solidFill>
              </a:rPr>
              <a:t>构建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zh-CN" altLang="en-US" sz="1200">
                <a:solidFill>
                  <a:schemeClr val="tx1"/>
                </a:solidFill>
              </a:rPr>
              <a:t>双</a:t>
            </a:r>
            <a:r>
              <a:rPr lang="en-US" altLang="zh-CN" sz="1200">
                <a:solidFill>
                  <a:schemeClr val="tx1"/>
                </a:solidFill>
              </a:rPr>
              <a:t> cell </a:t>
            </a:r>
            <a:r>
              <a:rPr lang="zh-CN" altLang="en-US" sz="1200">
                <a:solidFill>
                  <a:schemeClr val="tx1"/>
                </a:solidFill>
              </a:rPr>
              <a:t>零间隙</a:t>
            </a:r>
            <a:r>
              <a:rPr lang="en-US" altLang="zh-CN" sz="1200">
                <a:solidFill>
                  <a:schemeClr val="tx1"/>
                </a:solidFill>
              </a:rPr>
              <a:t> AWE </a:t>
            </a:r>
            <a:r>
              <a:rPr lang="zh-CN" altLang="en-US" sz="1200">
                <a:solidFill>
                  <a:schemeClr val="tx1"/>
                </a:solidFill>
              </a:rPr>
              <a:t>堆，执行</a:t>
            </a:r>
            <a:r>
              <a:rPr lang="en-US" altLang="zh-CN" sz="1200">
                <a:solidFill>
                  <a:schemeClr val="tx1"/>
                </a:solidFill>
              </a:rPr>
              <a:t> SU/SD </a:t>
            </a:r>
            <a:r>
              <a:rPr lang="zh-CN" altLang="en-US" sz="1200">
                <a:solidFill>
                  <a:schemeClr val="tx1"/>
                </a:solidFill>
              </a:rPr>
              <a:t>循环协议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19065" y="5208270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18430" y="5516880"/>
            <a:ext cx="663702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zh-CN" altLang="en-US" sz="1200" b="1"/>
              <a:t>降低反向电流电动势（</a:t>
            </a:r>
            <a:r>
              <a:rPr lang="en-US" altLang="zh-CN" sz="1200" b="1"/>
              <a:t>EMF</a:t>
            </a:r>
            <a:r>
              <a:rPr lang="zh-CN" altLang="en-US" sz="1200" b="1"/>
              <a:t>）：</a:t>
            </a:r>
            <a:r>
              <a:rPr lang="en-US" altLang="zh-CN" sz="1200"/>
              <a:t>Pb </a:t>
            </a:r>
            <a:r>
              <a:rPr lang="zh-CN" altLang="en-US" sz="1200"/>
              <a:t>的引入改变了电极表面的氧化还原平衡，显著</a:t>
            </a:r>
            <a:r>
              <a:rPr lang="zh-CN" altLang="en-US" sz="1200">
                <a:solidFill>
                  <a:srgbClr val="C00000"/>
                </a:solidFill>
              </a:rPr>
              <a:t>降低</a:t>
            </a:r>
            <a:r>
              <a:rPr lang="zh-CN" altLang="en-US" sz="1200"/>
              <a:t>了驱动反向电流的</a:t>
            </a:r>
            <a:r>
              <a:rPr lang="zh-CN" altLang="en-US" sz="1200">
                <a:solidFill>
                  <a:srgbClr val="C00000"/>
                </a:solidFill>
              </a:rPr>
              <a:t>总电压差</a:t>
            </a:r>
            <a:r>
              <a:rPr lang="zh-CN" altLang="en-US" sz="1200"/>
              <a:t>，从源头上减弱了冲击力。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None/>
            </a:pPr>
            <a:r>
              <a:rPr lang="en-US" altLang="zh-CN" sz="1200" b="1"/>
              <a:t>Pb/Ni </a:t>
            </a:r>
            <a:r>
              <a:rPr lang="zh-CN" altLang="en-US" sz="1200" b="1"/>
              <a:t>电极经历反向电流后，析氢活性反而比原来</a:t>
            </a:r>
            <a:r>
              <a:rPr lang="zh-CN" altLang="en-US" sz="1200" b="1">
                <a:solidFill>
                  <a:srgbClr val="C00000"/>
                </a:solidFill>
              </a:rPr>
              <a:t>更高</a:t>
            </a:r>
            <a:r>
              <a:rPr lang="zh-CN" altLang="en-US" sz="1200" b="1"/>
              <a:t>：</a:t>
            </a:r>
            <a:r>
              <a:rPr lang="en-US" altLang="zh-CN" sz="1200"/>
              <a:t>DFT </a:t>
            </a:r>
            <a:r>
              <a:rPr lang="zh-CN" altLang="en-US" sz="1200"/>
              <a:t>计算表明，经历反向电流氧化后，</a:t>
            </a:r>
            <a:r>
              <a:rPr lang="en-US" altLang="zh-CN" sz="1200"/>
              <a:t>Pb </a:t>
            </a:r>
            <a:r>
              <a:rPr lang="zh-CN" altLang="en-US" sz="1200"/>
              <a:t>转化成的氧化物</a:t>
            </a:r>
            <a:r>
              <a:rPr lang="en-US" altLang="zh-CN" sz="1200"/>
              <a:t>/</a:t>
            </a:r>
            <a:r>
              <a:rPr lang="zh-CN" altLang="en-US" sz="1200"/>
              <a:t>氢氧化物物种</a:t>
            </a:r>
            <a:r>
              <a:rPr lang="zh-CN" altLang="en-US" sz="1200">
                <a:sym typeface="+mn-ea"/>
              </a:rPr>
              <a:t>调节了</a:t>
            </a:r>
            <a:r>
              <a:rPr lang="en-US" altLang="zh-CN" sz="1200">
                <a:sym typeface="+mn-ea"/>
              </a:rPr>
              <a:t> H* </a:t>
            </a:r>
            <a:r>
              <a:rPr lang="zh-CN" altLang="en-US" sz="1200">
                <a:sym typeface="+mn-ea"/>
              </a:rPr>
              <a:t>在</a:t>
            </a:r>
            <a:r>
              <a:rPr lang="en-US" altLang="zh-CN" sz="1200">
                <a:sym typeface="+mn-ea"/>
              </a:rPr>
              <a:t> Ni </a:t>
            </a:r>
            <a:r>
              <a:rPr lang="zh-CN" altLang="en-US" sz="1200">
                <a:sym typeface="+mn-ea"/>
              </a:rPr>
              <a:t>表面的吸附能</a:t>
            </a:r>
            <a:r>
              <a:rPr lang="zh-CN" altLang="en-US" sz="1200"/>
              <a:t>，促进了水的解离和氢的脱附。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219065" y="91376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54088" y="3281045"/>
            <a:ext cx="3225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碱性电解槽停槽后反向电流流对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电极的降解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6501765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Jung, S. M. Kim, Y. Lee, B. J. Jung, H. Kwon, J. Lee, J. Kim, K. S. Kim, Y. W. Kim, K. J. Cho, H. S. Park, J. H. Han, J. W. Kim, Y. T. Advanced Functional Materials 2024, 34 (27).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45" y="3515995"/>
            <a:ext cx="4620895" cy="27825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335" y="112395"/>
            <a:ext cx="638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牺牲元素与阴极保护策略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界面与电子结构协同设计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5" y="487680"/>
            <a:ext cx="1217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Strategies and Countermeasures Against Reverse Current for Enhanced Durability in Water Electrolysis Systems</a:t>
            </a:r>
            <a:endParaRPr lang="en-US" altLang="zh-CN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6200" y="1281430"/>
            <a:ext cx="6932930" cy="47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30000"/>
              </a:lnSpc>
            </a:pPr>
            <a:r>
              <a:rPr lang="zh-CN" altLang="en-US" sz="1200"/>
              <a:t>在水电解系统停机或动态运行过程中，是否能够通过</a:t>
            </a:r>
            <a:r>
              <a:rPr lang="zh-CN" altLang="en-US" sz="1200">
                <a:solidFill>
                  <a:srgbClr val="C00000"/>
                </a:solidFill>
              </a:rPr>
              <a:t>材料与界面设计</a:t>
            </a:r>
            <a:r>
              <a:rPr lang="zh-CN" altLang="en-US" sz="1200"/>
              <a:t>，使反向电流触发的是</a:t>
            </a:r>
            <a:r>
              <a:rPr lang="en-US" altLang="zh-CN" sz="1200"/>
              <a:t>“</a:t>
            </a:r>
            <a:r>
              <a:rPr lang="zh-CN" altLang="en-US" sz="1200">
                <a:solidFill>
                  <a:srgbClr val="C00000"/>
                </a:solidFill>
              </a:rPr>
              <a:t>良性、可控</a:t>
            </a:r>
            <a:r>
              <a:rPr lang="zh-CN" altLang="en-US" sz="1200"/>
              <a:t>的界面反应</a:t>
            </a:r>
            <a:r>
              <a:rPr lang="en-US" altLang="zh-CN" sz="1200"/>
              <a:t>”</a:t>
            </a:r>
            <a:r>
              <a:rPr lang="zh-CN" altLang="en-US" sz="1200"/>
              <a:t>，而不是导致阴极失活的破坏性反应？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5163185" y="1898650"/>
            <a:ext cx="6767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具体策略及手段：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56200" y="2259965"/>
            <a:ext cx="6933565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构建牺牲</a:t>
            </a:r>
            <a:r>
              <a:rPr lang="en-US" altLang="zh-CN" sz="1200" b="1">
                <a:solidFill>
                  <a:schemeClr val="tx1"/>
                </a:solidFill>
              </a:rPr>
              <a:t>/</a:t>
            </a:r>
            <a:r>
              <a:rPr lang="zh-CN" altLang="en-US" sz="1200" b="1">
                <a:solidFill>
                  <a:schemeClr val="tx1"/>
                </a:solidFill>
              </a:rPr>
              <a:t>缓冲界面层</a:t>
            </a:r>
            <a:r>
              <a:rPr lang="zh-CN" altLang="en-US" sz="1200">
                <a:solidFill>
                  <a:schemeClr val="tx1"/>
                </a:solidFill>
              </a:rPr>
              <a:t>（动态牺牲</a:t>
            </a:r>
            <a:r>
              <a:rPr lang="en-US" altLang="zh-CN" sz="1200">
                <a:solidFill>
                  <a:schemeClr val="tx1"/>
                </a:solidFill>
              </a:rPr>
              <a:t> + </a:t>
            </a:r>
            <a:r>
              <a:rPr lang="zh-CN" altLang="en-US" sz="1200">
                <a:solidFill>
                  <a:schemeClr val="tx1"/>
                </a:solidFill>
              </a:rPr>
              <a:t>再生）：以</a:t>
            </a:r>
            <a:r>
              <a:rPr lang="en-US" altLang="zh-CN" sz="1200">
                <a:solidFill>
                  <a:schemeClr val="tx1"/>
                </a:solidFill>
              </a:rPr>
              <a:t> NiCoP–Cr</a:t>
            </a:r>
            <a:r>
              <a:rPr lang="en-US" altLang="en-US" sz="1200" baseline="-25000">
                <a:solidFill>
                  <a:schemeClr val="tx1"/>
                </a:solidFill>
              </a:rPr>
              <a:t>2</a:t>
            </a:r>
            <a:r>
              <a:rPr lang="en-US" altLang="zh-CN" sz="1200">
                <a:solidFill>
                  <a:schemeClr val="tx1"/>
                </a:solidFill>
              </a:rPr>
              <a:t>O</a:t>
            </a:r>
            <a:r>
              <a:rPr lang="en-US" altLang="en-US" sz="1200" baseline="-25000">
                <a:solidFill>
                  <a:schemeClr val="tx1"/>
                </a:solidFill>
              </a:rPr>
              <a:t>3</a:t>
            </a:r>
            <a:r>
              <a:rPr lang="zh-CN" altLang="en-US" sz="1200">
                <a:solidFill>
                  <a:schemeClr val="tx1"/>
                </a:solidFill>
              </a:rPr>
              <a:t>为代表，反向电流初期，</a:t>
            </a:r>
            <a:r>
              <a:rPr lang="en-US" altLang="zh-CN" sz="1200">
                <a:solidFill>
                  <a:schemeClr val="tx1"/>
                </a:solidFill>
              </a:rPr>
              <a:t>Co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P </a:t>
            </a:r>
            <a:r>
              <a:rPr lang="zh-CN" altLang="en-US" sz="1200">
                <a:solidFill>
                  <a:schemeClr val="tx1"/>
                </a:solidFill>
              </a:rPr>
              <a:t>等元素优先迁移并被氧化，</a:t>
            </a:r>
            <a:r>
              <a:rPr lang="zh-CN" altLang="en-US" sz="1200">
                <a:sym typeface="+mn-ea"/>
              </a:rPr>
              <a:t>在表面形成</a:t>
            </a:r>
            <a:r>
              <a:rPr lang="en-US" altLang="zh-CN" sz="1200">
                <a:sym typeface="+mn-ea"/>
              </a:rPr>
              <a:t> CoO</a:t>
            </a:r>
            <a:r>
              <a:rPr lang="en-US" altLang="en-US" sz="1200">
                <a:sym typeface="+mn-ea"/>
              </a:rPr>
              <a:t>ₓ</a:t>
            </a:r>
            <a:r>
              <a:rPr lang="en-US" altLang="zh-CN" sz="1200">
                <a:sym typeface="+mn-ea"/>
              </a:rPr>
              <a:t> / PO</a:t>
            </a:r>
            <a:r>
              <a:rPr lang="en-US" altLang="en-US" sz="1200">
                <a:sym typeface="+mn-ea"/>
              </a:rPr>
              <a:t>ₓ</a:t>
            </a:r>
            <a:r>
              <a:rPr lang="en-US" altLang="zh-CN" sz="1200">
                <a:sym typeface="+mn-ea"/>
              </a:rPr>
              <a:t> / Cr</a:t>
            </a:r>
            <a:r>
              <a:rPr lang="en-US" altLang="en-US" sz="1200" baseline="-25000">
                <a:sym typeface="+mn-ea"/>
              </a:rPr>
              <a:t>2</a:t>
            </a:r>
            <a:r>
              <a:rPr lang="en-US" altLang="zh-CN" sz="1200">
                <a:sym typeface="+mn-ea"/>
              </a:rPr>
              <a:t>O</a:t>
            </a:r>
            <a:r>
              <a:rPr lang="en-US" altLang="zh-CN" sz="1200" baseline="-25000">
                <a:sym typeface="+mn-ea"/>
              </a:rPr>
              <a:t>3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复合钝化层</a:t>
            </a:r>
            <a:r>
              <a:rPr lang="zh-CN" altLang="en-US" sz="1200">
                <a:solidFill>
                  <a:schemeClr val="tx1"/>
                </a:solidFill>
              </a:rPr>
              <a:t>；当反向电流消失，在</a:t>
            </a:r>
            <a:r>
              <a:rPr lang="en-US" altLang="zh-CN" sz="1200">
                <a:solidFill>
                  <a:schemeClr val="tx1"/>
                </a:solidFill>
              </a:rPr>
              <a:t> HER </a:t>
            </a:r>
            <a:r>
              <a:rPr lang="zh-CN" altLang="en-US" sz="1200">
                <a:solidFill>
                  <a:schemeClr val="tx1"/>
                </a:solidFill>
              </a:rPr>
              <a:t>条件下，该层可被还原，体系</a:t>
            </a:r>
            <a:r>
              <a:rPr lang="zh-CN" altLang="en-US" sz="1200">
                <a:solidFill>
                  <a:schemeClr val="tx1"/>
                </a:solidFill>
              </a:rPr>
              <a:t>恢复初始活性。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可控</a:t>
            </a:r>
            <a:r>
              <a:rPr lang="en-US" altLang="zh-CN" sz="1200" b="1">
                <a:solidFill>
                  <a:schemeClr val="tx1"/>
                </a:solidFill>
              </a:rPr>
              <a:t>“</a:t>
            </a:r>
            <a:r>
              <a:rPr lang="zh-CN" altLang="en-US" sz="1200" b="1">
                <a:solidFill>
                  <a:schemeClr val="tx1"/>
                </a:solidFill>
              </a:rPr>
              <a:t>先反应、后钝化</a:t>
            </a:r>
            <a:r>
              <a:rPr lang="en-US" altLang="zh-CN" sz="1200" b="1">
                <a:solidFill>
                  <a:schemeClr val="tx1"/>
                </a:solidFill>
              </a:rPr>
              <a:t>”</a:t>
            </a:r>
            <a:r>
              <a:rPr lang="zh-CN" altLang="en-US" sz="1200" b="1">
                <a:solidFill>
                  <a:schemeClr val="tx1"/>
                </a:solidFill>
              </a:rPr>
              <a:t>机制</a:t>
            </a:r>
            <a:r>
              <a:rPr lang="zh-CN" altLang="en-US" sz="1200">
                <a:solidFill>
                  <a:schemeClr val="tx1"/>
                </a:solidFill>
              </a:rPr>
              <a:t>：用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更容易被氧化、但</a:t>
            </a:r>
            <a:r>
              <a:rPr lang="zh-CN" altLang="en-US" sz="1200">
                <a:solidFill>
                  <a:srgbClr val="C00000"/>
                </a:solidFill>
              </a:rPr>
              <a:t>更稳定的界面相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，替代</a:t>
            </a:r>
            <a:r>
              <a:rPr lang="en-US" altLang="zh-CN" sz="1200">
                <a:solidFill>
                  <a:schemeClr val="tx1"/>
                </a:solidFill>
              </a:rPr>
              <a:t> Ni </a:t>
            </a:r>
            <a:r>
              <a:rPr lang="zh-CN" altLang="en-US" sz="1200">
                <a:solidFill>
                  <a:schemeClr val="tx1"/>
                </a:solidFill>
              </a:rPr>
              <a:t>发生不可控氧化。如</a:t>
            </a:r>
            <a:r>
              <a:rPr lang="en-US" altLang="zh-CN" sz="1200">
                <a:solidFill>
                  <a:schemeClr val="tx1"/>
                </a:solidFill>
              </a:rPr>
              <a:t>CoP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RuO</a:t>
            </a:r>
            <a:r>
              <a:rPr lang="en-US" altLang="en-US" sz="1200" baseline="-25000">
                <a:solidFill>
                  <a:schemeClr val="tx1"/>
                </a:solidFill>
              </a:rPr>
              <a:t>2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NiMoN </a:t>
            </a:r>
            <a:r>
              <a:rPr lang="zh-CN" altLang="en-US" sz="1200">
                <a:solidFill>
                  <a:schemeClr val="tx1"/>
                </a:solidFill>
              </a:rPr>
              <a:t>等体系中，表层首先形成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zh-CN" altLang="en-US" sz="1200">
                <a:solidFill>
                  <a:schemeClr val="tx1"/>
                </a:solidFill>
              </a:rPr>
              <a:t>磷酸盐</a:t>
            </a:r>
            <a:r>
              <a:rPr lang="en-US" altLang="zh-CN" sz="1200">
                <a:solidFill>
                  <a:schemeClr val="tx1"/>
                </a:solidFill>
              </a:rPr>
              <a:t> / </a:t>
            </a:r>
            <a:r>
              <a:rPr lang="zh-CN" altLang="en-US" sz="1200">
                <a:solidFill>
                  <a:schemeClr val="tx1"/>
                </a:solidFill>
              </a:rPr>
              <a:t>氧羟化物，这些相在热力学上比</a:t>
            </a:r>
            <a:r>
              <a:rPr lang="en-US" altLang="zh-CN" sz="1200">
                <a:solidFill>
                  <a:schemeClr val="tx1"/>
                </a:solidFill>
              </a:rPr>
              <a:t> Ni </a:t>
            </a:r>
            <a:r>
              <a:rPr lang="zh-CN" altLang="en-US" sz="1200">
                <a:solidFill>
                  <a:schemeClr val="tx1"/>
                </a:solidFill>
              </a:rPr>
              <a:t>更易被氧化，在动力学上阻挡进一步反应。</a:t>
            </a:r>
            <a:endParaRPr lang="zh-CN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电子结构调控</a:t>
            </a:r>
            <a:r>
              <a:rPr lang="zh-CN" altLang="en-US" sz="1200">
                <a:solidFill>
                  <a:schemeClr val="tx1"/>
                </a:solidFill>
              </a:rPr>
              <a:t>：掺杂</a:t>
            </a:r>
            <a:r>
              <a:rPr lang="en-US" altLang="zh-CN" sz="1200">
                <a:solidFill>
                  <a:schemeClr val="tx1"/>
                </a:solidFill>
              </a:rPr>
              <a:t>Pb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W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Mo</a:t>
            </a:r>
            <a:r>
              <a:rPr lang="zh-CN" altLang="en-US" sz="1200">
                <a:solidFill>
                  <a:schemeClr val="tx1"/>
                </a:solidFill>
              </a:rPr>
              <a:t>、</a:t>
            </a:r>
            <a:r>
              <a:rPr lang="en-US" altLang="zh-CN" sz="1200">
                <a:solidFill>
                  <a:schemeClr val="tx1"/>
                </a:solidFill>
              </a:rPr>
              <a:t>Fe </a:t>
            </a:r>
            <a:r>
              <a:rPr lang="zh-CN" altLang="en-US" sz="1200">
                <a:solidFill>
                  <a:schemeClr val="tx1"/>
                </a:solidFill>
              </a:rPr>
              <a:t>等，改变</a:t>
            </a:r>
            <a:r>
              <a:rPr lang="en-US" altLang="zh-CN" sz="1200">
                <a:solidFill>
                  <a:srgbClr val="C00000"/>
                </a:solidFill>
              </a:rPr>
              <a:t> Ni </a:t>
            </a:r>
            <a:r>
              <a:rPr lang="zh-CN" altLang="en-US" sz="1200">
                <a:solidFill>
                  <a:srgbClr val="C00000"/>
                </a:solidFill>
              </a:rPr>
              <a:t>周围电子密度</a:t>
            </a:r>
            <a:r>
              <a:rPr lang="zh-CN" altLang="en-US" sz="1200">
                <a:solidFill>
                  <a:schemeClr val="tx1"/>
                </a:solidFill>
              </a:rPr>
              <a:t>，抑制</a:t>
            </a:r>
            <a:r>
              <a:rPr lang="en-US" altLang="zh-CN" sz="1200">
                <a:solidFill>
                  <a:schemeClr val="tx1"/>
                </a:solidFill>
              </a:rPr>
              <a:t> Ni</a:t>
            </a:r>
            <a:r>
              <a:rPr lang="en-US" altLang="en-US" sz="1200">
                <a:solidFill>
                  <a:schemeClr val="tx1"/>
                </a:solidFill>
              </a:rPr>
              <a:t>⁰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en-US" altLang="en-US" sz="1200">
                <a:solidFill>
                  <a:schemeClr val="tx1"/>
                </a:solidFill>
              </a:rPr>
              <a:t>→</a:t>
            </a:r>
            <a:r>
              <a:rPr lang="en-US" altLang="zh-CN" sz="1200">
                <a:solidFill>
                  <a:schemeClr val="tx1"/>
                </a:solidFill>
              </a:rPr>
              <a:t> Ni</a:t>
            </a:r>
            <a:r>
              <a:rPr lang="en-US" altLang="en-US" sz="1200">
                <a:solidFill>
                  <a:schemeClr val="tx1"/>
                </a:solidFill>
              </a:rPr>
              <a:t>²⁺</a:t>
            </a:r>
            <a:r>
              <a:rPr lang="zh-CN" altLang="en-US" sz="1200">
                <a:solidFill>
                  <a:schemeClr val="tx1"/>
                </a:solidFill>
              </a:rPr>
              <a:t>的快速跃迁，促进形成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zh-CN" altLang="en-US" sz="1200">
                <a:solidFill>
                  <a:schemeClr val="tx1"/>
                </a:solidFill>
              </a:rPr>
              <a:t>可逆</a:t>
            </a:r>
            <a:r>
              <a:rPr lang="en-US" altLang="zh-CN" sz="1200">
                <a:solidFill>
                  <a:schemeClr val="tx1"/>
                </a:solidFill>
              </a:rPr>
              <a:t> NiOOH </a:t>
            </a:r>
            <a:r>
              <a:rPr lang="zh-CN" altLang="en-US" sz="1200">
                <a:solidFill>
                  <a:schemeClr val="tx1"/>
                </a:solidFill>
              </a:rPr>
              <a:t>而非疏松</a:t>
            </a:r>
            <a:r>
              <a:rPr lang="en-US" altLang="zh-CN" sz="1200">
                <a:solidFill>
                  <a:schemeClr val="tx1"/>
                </a:solidFill>
              </a:rPr>
              <a:t> Ni(OH)</a:t>
            </a:r>
            <a:r>
              <a:rPr lang="en-US" altLang="en-US" sz="1200" baseline="-25000">
                <a:solidFill>
                  <a:schemeClr val="tx1"/>
                </a:solidFill>
              </a:rPr>
              <a:t>2</a:t>
            </a:r>
            <a:endParaRPr lang="en-US" altLang="en-US" sz="1200">
              <a:solidFill>
                <a:schemeClr val="tx1"/>
              </a:solidFill>
            </a:endParaRPr>
          </a:p>
          <a:p>
            <a:pPr indent="0" fontAlgn="auto">
              <a:lnSpc>
                <a:spcPct val="130000"/>
              </a:lnSpc>
              <a:buSzPct val="100000"/>
              <a:buNone/>
            </a:pPr>
            <a:r>
              <a:rPr lang="zh-CN" altLang="en-US" sz="1200" b="1">
                <a:solidFill>
                  <a:schemeClr val="tx1"/>
                </a:solidFill>
              </a:rPr>
              <a:t>构建多功能界面层</a:t>
            </a:r>
            <a:r>
              <a:rPr lang="zh-CN" altLang="en-US" sz="1200">
                <a:solidFill>
                  <a:schemeClr val="tx1"/>
                </a:solidFill>
              </a:rPr>
              <a:t>（电子通</a:t>
            </a:r>
            <a:r>
              <a:rPr lang="en-US" altLang="zh-CN" sz="1200">
                <a:solidFill>
                  <a:schemeClr val="tx1"/>
                </a:solidFill>
              </a:rPr>
              <a:t> / </a:t>
            </a:r>
            <a:r>
              <a:rPr lang="zh-CN" altLang="en-US" sz="1200">
                <a:solidFill>
                  <a:schemeClr val="tx1"/>
                </a:solidFill>
              </a:rPr>
              <a:t>离子堵）：通过超薄</a:t>
            </a:r>
            <a:r>
              <a:rPr lang="en-US" altLang="zh-CN" sz="1200">
                <a:solidFill>
                  <a:schemeClr val="tx1"/>
                </a:solidFill>
              </a:rPr>
              <a:t> N </a:t>
            </a:r>
            <a:r>
              <a:rPr lang="zh-CN" altLang="en-US" sz="1200">
                <a:solidFill>
                  <a:schemeClr val="tx1"/>
                </a:solidFill>
              </a:rPr>
              <a:t>掺杂碳层、石墨烯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二维材料、导电氧化物等限制</a:t>
            </a:r>
            <a:r>
              <a:rPr lang="en-US" altLang="zh-CN" sz="1200">
                <a:solidFill>
                  <a:schemeClr val="tx1"/>
                </a:solidFill>
              </a:rPr>
              <a:t> OER / </a:t>
            </a:r>
            <a:r>
              <a:rPr lang="zh-CN" altLang="en-US" sz="1200">
                <a:solidFill>
                  <a:schemeClr val="tx1"/>
                </a:solidFill>
              </a:rPr>
              <a:t>金属溶解，仅允许温和表面反应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56200" y="4825365"/>
            <a:ext cx="41249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最终效果：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56200" y="5116830"/>
            <a:ext cx="693356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en-US" altLang="zh-CN" sz="1200" b="1"/>
              <a:t>HER </a:t>
            </a:r>
            <a:r>
              <a:rPr lang="zh-CN" altLang="en-US" sz="1200" b="1"/>
              <a:t>活性保持</a:t>
            </a:r>
            <a:r>
              <a:rPr lang="en-US" altLang="zh-CN" sz="1200" b="1"/>
              <a:t>/</a:t>
            </a:r>
            <a:r>
              <a:rPr lang="zh-CN" altLang="en-US" sz="1200" b="1"/>
              <a:t>提升</a:t>
            </a:r>
            <a:r>
              <a:rPr lang="zh-CN" altLang="en-US" sz="1200"/>
              <a:t>：通过在电极表面进行材料与界面设计，界面上优先发生的是可逆或牺牲性的氧化还原反应，反向电流</a:t>
            </a:r>
            <a:r>
              <a:rPr lang="zh-CN" altLang="en-US" sz="1200">
                <a:solidFill>
                  <a:srgbClr val="C00000"/>
                </a:solidFill>
              </a:rPr>
              <a:t>未破坏</a:t>
            </a:r>
            <a:r>
              <a:rPr lang="en-US" altLang="zh-CN" sz="1200">
                <a:solidFill>
                  <a:srgbClr val="C00000"/>
                </a:solidFill>
              </a:rPr>
              <a:t> HER </a:t>
            </a:r>
            <a:r>
              <a:rPr lang="zh-CN" altLang="en-US" sz="1200">
                <a:solidFill>
                  <a:srgbClr val="C00000"/>
                </a:solidFill>
              </a:rPr>
              <a:t>有效活性位点</a:t>
            </a:r>
            <a:r>
              <a:rPr lang="zh-CN" altLang="en-US" sz="1200"/>
              <a:t>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zh-CN" altLang="en-US" sz="1200" b="1"/>
              <a:t>反向电流损伤显著降低</a:t>
            </a:r>
            <a:r>
              <a:rPr lang="zh-CN" altLang="en-US" sz="1200"/>
              <a:t>：抑制了</a:t>
            </a:r>
            <a:r>
              <a:rPr lang="en-US" altLang="zh-CN" sz="1200"/>
              <a:t> Ni </a:t>
            </a:r>
            <a:r>
              <a:rPr lang="zh-CN" altLang="en-US" sz="1200"/>
              <a:t>等主体材料向绝缘氢氧化物转化，</a:t>
            </a:r>
            <a:r>
              <a:rPr lang="en-US" altLang="zh-CN" sz="1200"/>
              <a:t>Rct</a:t>
            </a:r>
            <a:r>
              <a:rPr lang="zh-CN" altLang="en-US" sz="1200"/>
              <a:t>显著上升，反向电流从</a:t>
            </a:r>
            <a:r>
              <a:rPr lang="en-US" altLang="zh-CN" sz="1200"/>
              <a:t>“</a:t>
            </a:r>
            <a:r>
              <a:rPr lang="zh-CN" altLang="en-US" sz="1200"/>
              <a:t>失效触发源</a:t>
            </a:r>
            <a:r>
              <a:rPr lang="en-US" altLang="zh-CN" sz="1200"/>
              <a:t>”</a:t>
            </a:r>
            <a:r>
              <a:rPr lang="zh-CN" altLang="en-US" sz="1200"/>
              <a:t>转为</a:t>
            </a:r>
            <a:r>
              <a:rPr lang="en-US" altLang="zh-CN" sz="1200"/>
              <a:t>“</a:t>
            </a:r>
            <a:r>
              <a:rPr lang="zh-CN" altLang="en-US" sz="1200">
                <a:solidFill>
                  <a:srgbClr val="C00000"/>
                </a:solidFill>
              </a:rPr>
              <a:t>可控界面过程</a:t>
            </a:r>
            <a:r>
              <a:rPr lang="en-US" altLang="zh-CN" sz="1200"/>
              <a:t>”</a:t>
            </a:r>
            <a:r>
              <a:rPr lang="zh-CN" altLang="en-US" sz="1200"/>
              <a:t>。</a:t>
            </a:r>
            <a:endParaRPr lang="zh-CN" altLang="en-US" sz="1200"/>
          </a:p>
          <a:p>
            <a:pPr indent="0" fontAlgn="auto">
              <a:lnSpc>
                <a:spcPct val="130000"/>
              </a:lnSpc>
              <a:buSzPct val="80000"/>
              <a:buFont typeface="Arial" panose="020B0604020202020204" pitchFamily="34" charset="0"/>
              <a:buNone/>
            </a:pPr>
            <a:r>
              <a:rPr lang="zh-CN" altLang="en-US" sz="1200" b="1"/>
              <a:t>动态工况耐久性显著提升：</a:t>
            </a:r>
            <a:r>
              <a:rPr lang="zh-CN" altLang="en-US" sz="1200"/>
              <a:t>在多次启停</a:t>
            </a:r>
            <a:r>
              <a:rPr lang="en-US" altLang="zh-CN" sz="1200"/>
              <a:t>/</a:t>
            </a:r>
            <a:r>
              <a:rPr lang="zh-CN" altLang="en-US" sz="1200"/>
              <a:t>反向电流循环后，电极结构稳定，性能衰减明显低于未设计体系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156200" y="942340"/>
            <a:ext cx="41249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针对什么关键科学问题：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92873" y="6306185"/>
            <a:ext cx="22504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动态牺牲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自修复界面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54088" y="3290570"/>
            <a:ext cx="3225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Pb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掺杂改变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Ni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的界面电子结构与反应路径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873760"/>
            <a:ext cx="4774565" cy="244665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0" y="6593205"/>
            <a:ext cx="536511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Peng, Z. Zhang, H. Zhang, Y. Zhao, Y. Chen, J. Wang, L. Small Methods 2025, 9 (12), e01816.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7641</Words>
  <Application>WPS 演示</Application>
  <PresentationFormat>宽屏</PresentationFormat>
  <Paragraphs>256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Times New Roman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刘莉霜</cp:lastModifiedBy>
  <cp:revision>192</cp:revision>
  <dcterms:created xsi:type="dcterms:W3CDTF">2019-06-19T02:08:00Z</dcterms:created>
  <dcterms:modified xsi:type="dcterms:W3CDTF">2026-09-22T13:40:52Z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67746EA9514E45C2B0AE32323E7E6570_13</vt:lpwstr>
  </property>
</Properties>
</file>